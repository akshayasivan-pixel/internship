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ernship Presentation" id="{eca71d05-f30d-89d1-b050-54a3af726d97}">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Akshaya S, a final-year Information Technology student at University College of Engineering (BIT Campus), Anna University, Tiruchirappalli. I will present my internship project, the AI-Powered Customer Support Chatbot, completed at Fantasy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support is central to how a business serves its customers. Traditionally, human agents answer the same questions repeatedly, which causes waiting time, limited availability and extra workload. AI, through NLP and machine learning, can understand customer messages and respond automatically. Our chatbot answers common queries and redirects complex or uncertain ones to a human agent. The purpose of the project is a web-based chatbot that automates common interactions and improves response consistency and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located in Melapudur, Tiruchirappalli, is the organization where I completed this internship. The internship project was the AI-Powered Customer Support Chatbot, focused on AI-based automation, web application development and customer support solutions. Through it I learned web application development, Python backend development, NLP and machine learning integration, database interaction, and software testing and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problem. Human agents repeat the same answers, customers wait, support may be limited to working hours, responses vary by agent, large volumes increase workload, and without a central system tracking conversations and evaluating performance is difficult. On the right are the objectives: build the chatbot, automate FAQ responses, preprocess messages with NLP, identify intents with machine learning, generate suitable responses, keep conversation records, allow escalation to humans and support administrative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system relies on human agents, so repeated questions consume time, customers may wait, availability can be restricted to business hours, consistency varies and conversation tracking is manual. The proposed system uses NLP and machine learning to classify messages into intents and select responses, escalates uncertain or complex queries to humans, stores conversations and provides an admin interface. The table compares both across seven categories. No numerical performance claims are made; the system aims to improve speed and consistency for common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uses HTML for structure, CSS for styling, JavaScript for interactivity and communication with backend endpoints, and Bootstrap for responsiveness. The backend uses Python for core logic and NLP/ML integration, and Flask as the web framework between the interface and the chatbot logic. For AI and ML we use NLP, NLTK for tokenization, stop-word removal and lemmatization, TF-IDF for numerical features, and scikit-learn for intent classification such as Logistic Regression and SVM where applicable. MySQL or SQLite stores conversation and intent data according to the implementation. VS Code and Postman were the development and testing tools. As the report notes, not every tool necessarily applies to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layers. The presentation layer is the chat interface built with HTML, CSS, JavaScript and Bootstrap. The business logic layer is the Flask backend, which receives the message, applies NLP preprocessing, creates TF-IDF features, predicts the intent with the trained model and selects a response. If confidence is low or the query is complex, it branches to fallback or human escalation. The database layer stores and retrieves conversation records and chatbot information, and supports administration. Follow the arrows: customer, interface, Flask, NLP, TF-IDF, classifier, response selection and back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has nine steps. The user sends a message; Flask validates it; NLP preprocesses it using tokenization, stop-word removal and lemmatization; TF-IDF converts it into numbers; a trained classifier predicts the intent; the chatbot picks the response for that intent; uncertain or complex queries go to fallback or human support; the conversation is stored; and the administrative functions support review, intent management, training-phrase updates and retraining where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is the algorithm in 14 steps. The chatbot starts, receives a message and validates it; if empty it asks for valid input. Otherwise it preprocesses the text, builds TF-IDF features, classifies the intent and, where supported, obtains a confidence value that is compared with a configured threshold. If sufficient, it selects the intent's response; if not, it gives a fallback or escalates to a human. The response is returned, the conversation stored, and the loop repeats. Example: 'Where is my order?' is preprocessed, vectorized and classified, and an order-status response is selected; actual order details depend on the data and integrations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chat window showing user messages and chatbot responses, styled and made responsive with HTML, CSS, JavaScript and Bootstrap. Flask routes connect the interface to the Python processing logic and return responses. NLTK handles preprocessing, TF-IDF creates features and a classifier identifies intents; Logistic Regression and SVM are mentioned in the report as classification approaches. Supported queries get responses; uncertain ones use fallback or human escalation. Conversations are stored and administrators can review them and maintain intents and training phrases where implemented. The chat on the right is an illustrative sample, not an actual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areas evaluated during development: input validation, text preprocessing, intent classification, response generation, fallback handling, human escalation where implemented, conversation storage and interface testing. The analysis shows the system combines web development with NLP and machine learning, handles supported queries without an agent answering each message, and offers a route for uncertain queries. The outcome is a working AI chatbot internship project. I have intentionally not quoted accuracy percentages or response times because the report does not document such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developed an AI-powered customer support chatbot that combines frontend web technologies with a Python Flask backend, uses NLP and TF-IDF with machine learning for intent classification, provides automated responses, and uses fallback and human escalation for uncertain queries. Future work includes transformer models such as BERT, multilingual support, sentiment analysis, voice interaction, messaging integrations, cloud deployment, analytics dashboards, multi-turn context, authentication and security, and production database integration.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p:spPr>
      </p:sp>
      <p:sp>
        <p:nvSpPr>
          <p:cNvPr id="3" name="Shape 1"/>
          <p:cNvSpPr/>
          <p:nvPr/>
        </p:nvSpPr>
        <p:spPr>
          <a:xfrm>
            <a:off x="0" y="731520"/>
            <a:ext cx="9144000" cy="45720"/>
          </a:xfrm>
          <a:prstGeom prst="rect">
            <a:avLst/>
          </a:prstGeom>
          <a:solidFill>
            <a:srgbClr val="00B8D9"/>
          </a:solidFill>
          <a:ln/>
        </p:spPr>
      </p:sp>
      <p:sp>
        <p:nvSpPr>
          <p:cNvPr id="4" name="Text 2"/>
          <p:cNvSpPr/>
          <p:nvPr/>
        </p:nvSpPr>
        <p:spPr>
          <a:xfrm>
            <a:off x="365760" y="4846320"/>
            <a:ext cx="6400800" cy="228600"/>
          </a:xfrm>
          <a:prstGeom prst="rect">
            <a:avLst/>
          </a:prstGeom>
          <a:noFill/>
          <a:ln/>
        </p:spPr>
        <p:txBody>
          <a:bodyPr wrap="square" rtlCol="0" anchor="ctr"/>
          <a:lstStyle/>
          <a:p>
            <a:pPr indent="0" marL="0">
              <a:buNone/>
            </a:pPr>
            <a:r>
              <a:rPr lang="en-US" sz="800" dirty="0">
                <a:solidFill>
                  <a:srgbClr val="5B6B82"/>
                </a:solidFill>
                <a:latin typeface="Calibri" pitchFamily="34" charset="0"/>
                <a:ea typeface="Calibri" pitchFamily="34" charset="-122"/>
                <a:cs typeface="Calibri" pitchFamily="34" charset="-120"/>
              </a:rPr>
              <a:t>AI-Powered Customer Support Chatbot  |  Akshaya S  |  810023205084</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137160" cy="5143500"/>
          </a:xfrm>
          <a:prstGeom prst="rect">
            <a:avLst/>
          </a:prstGeom>
          <a:solidFill>
            <a:srgbClr val="00B8D9"/>
          </a:solidFill>
          <a:ln w="12700">
            <a:solidFill>
              <a:srgbClr val="00B8D9"/>
            </a:solidFill>
            <a:prstDash val="solid"/>
          </a:ln>
        </p:spPr>
      </p:sp>
      <p:sp>
        <p:nvSpPr>
          <p:cNvPr id="4" name="Text 1"/>
          <p:cNvSpPr txBox="1"/>
          <p:nvPr/>
        </p:nvSpPr>
        <p:spPr>
          <a:xfrm>
            <a:off x="457200" y="502920"/>
            <a:ext cx="4937760" cy="274320"/>
          </a:xfrm>
          <a:prstGeom prst="rect">
            <a:avLst/>
          </a:prstGeom>
          <a:noFill/>
          <a:ln/>
        </p:spPr>
        <p:txBody>
          <a:bodyPr wrap="square" lIns="635" tIns="635" rIns="635" bIns="635" rtlCol="0" anchor="t"/>
          <a:lstStyle/>
          <a:p>
            <a:pPr indent="0" marL="0">
              <a:buNone/>
            </a:pPr>
            <a:r>
              <a:rPr lang="en-US" sz="1100" b="1" spc="300" kern="0" dirty="0">
                <a:solidFill>
                  <a:srgbClr val="00B8D9"/>
                </a:solidFill>
                <a:latin typeface="Calibri" pitchFamily="34" charset="0"/>
                <a:ea typeface="Calibri" pitchFamily="34" charset="-122"/>
                <a:cs typeface="Calibri" pitchFamily="34" charset="-120"/>
              </a:rPr>
              <a:t>INTERNSHIP PROJECT PRESENTATION</a:t>
            </a:r>
            <a:endParaRPr lang="en-US" sz="1100" dirty="0"/>
          </a:p>
        </p:txBody>
      </p:sp>
      <p:sp>
        <p:nvSpPr>
          <p:cNvPr id="5" name="Text 2"/>
          <p:cNvSpPr txBox="1"/>
          <p:nvPr/>
        </p:nvSpPr>
        <p:spPr>
          <a:xfrm>
            <a:off x="457200" y="868680"/>
            <a:ext cx="4937760" cy="1417320"/>
          </a:xfrm>
          <a:prstGeom prst="rect">
            <a:avLst/>
          </a:prstGeom>
          <a:noFill/>
          <a:ln/>
        </p:spPr>
        <p:txBody>
          <a:bodyPr wrap="square" lIns="635" tIns="635" rIns="635" bIns="635"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AI-POWERED CUSTOMER SUPPORT CHATBOT</a:t>
            </a:r>
            <a:endParaRPr lang="en-US" sz="3000" dirty="0"/>
          </a:p>
        </p:txBody>
      </p:sp>
      <p:sp>
        <p:nvSpPr>
          <p:cNvPr id="6" name="Shape 3"/>
          <p:cNvSpPr/>
          <p:nvPr/>
        </p:nvSpPr>
        <p:spPr>
          <a:xfrm>
            <a:off x="502920" y="2377440"/>
            <a:ext cx="1463040" cy="45720"/>
          </a:xfrm>
          <a:prstGeom prst="rect">
            <a:avLst/>
          </a:prstGeom>
          <a:solidFill>
            <a:srgbClr val="00B8D9"/>
          </a:solidFill>
          <a:ln w="12700">
            <a:solidFill>
              <a:srgbClr val="00B8D9"/>
            </a:solidFill>
            <a:prstDash val="solid"/>
          </a:ln>
        </p:spPr>
      </p:sp>
      <p:sp>
        <p:nvSpPr>
          <p:cNvPr id="7" name="Text 4"/>
          <p:cNvSpPr txBox="1"/>
          <p:nvPr/>
        </p:nvSpPr>
        <p:spPr>
          <a:xfrm>
            <a:off x="457200" y="2560320"/>
            <a:ext cx="4937760" cy="2194560"/>
          </a:xfrm>
          <a:prstGeom prst="rect">
            <a:avLst/>
          </a:prstGeom>
          <a:noFill/>
          <a:ln/>
        </p:spPr>
        <p:txBody>
          <a:bodyPr wrap="square" lIns="635" tIns="635" rIns="635" bIns="635" rtlCol="0" anchor="t"/>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Presented by: Akshaya S</a:t>
            </a:r>
            <a:endParaRPr lang="en-US" sz="1250" dirty="0"/>
          </a:p>
          <a:p>
            <a:pPr indent="0" marL="0">
              <a:spcAft>
                <a:spcPts val="400"/>
              </a:spcAft>
              <a:buNone/>
            </a:pPr>
            <a:r>
              <a:rPr lang="en-US" sz="1250" dirty="0">
                <a:solidFill>
                  <a:srgbClr val="FFFFFF"/>
                </a:solidFill>
                <a:latin typeface="Calibri" pitchFamily="34" charset="0"/>
                <a:ea typeface="Calibri" pitchFamily="34" charset="-122"/>
                <a:cs typeface="Calibri" pitchFamily="34" charset="-120"/>
              </a:rPr>
              <a:t>Register Number: 810023205084</a:t>
            </a:r>
            <a:endParaRPr lang="en-US" sz="1250" dirty="0"/>
          </a:p>
          <a:p>
            <a:pPr indent="0" marL="0">
              <a:spcAft>
                <a:spcPts val="400"/>
              </a:spcAft>
              <a:buNone/>
            </a:pPr>
            <a:r>
              <a:rPr lang="en-US" sz="1250" dirty="0">
                <a:solidFill>
                  <a:srgbClr val="FFFFFF"/>
                </a:solidFill>
                <a:latin typeface="Calibri" pitchFamily="34" charset="0"/>
                <a:ea typeface="Calibri" pitchFamily="34" charset="-122"/>
                <a:cs typeface="Calibri" pitchFamily="34" charset="-120"/>
              </a:rPr>
              <a:t>Department of Information Technology</a:t>
            </a:r>
            <a:endParaRPr lang="en-US" sz="1250" dirty="0"/>
          </a:p>
          <a:p>
            <a:pPr indent="0" marL="0">
              <a:spcAft>
                <a:spcPts val="400"/>
              </a:spcAft>
              <a:buNone/>
            </a:pPr>
            <a:r>
              <a:rPr lang="en-US" sz="1250" dirty="0">
                <a:solidFill>
                  <a:srgbClr val="FFFFFF"/>
                </a:solidFill>
                <a:latin typeface="Calibri" pitchFamily="34" charset="0"/>
                <a:ea typeface="Calibri" pitchFamily="34" charset="-122"/>
                <a:cs typeface="Calibri" pitchFamily="34" charset="-120"/>
              </a:rPr>
              <a:t>University College of Engineering (BIT Campus)</a:t>
            </a:r>
            <a:endParaRPr lang="en-US" sz="1250" dirty="0"/>
          </a:p>
          <a:p>
            <a:pPr indent="0" marL="0">
              <a:spcAft>
                <a:spcPts val="400"/>
              </a:spcAft>
              <a:buNone/>
            </a:pPr>
            <a:r>
              <a:rPr lang="en-US" sz="1250" dirty="0">
                <a:solidFill>
                  <a:srgbClr val="FFFFFF"/>
                </a:solidFill>
                <a:latin typeface="Calibri" pitchFamily="34" charset="0"/>
                <a:ea typeface="Calibri" pitchFamily="34" charset="-122"/>
                <a:cs typeface="Calibri" pitchFamily="34" charset="-120"/>
              </a:rPr>
              <a:t>Anna University, Tiruchirappalli</a:t>
            </a:r>
            <a:endParaRPr lang="en-US" sz="1250" dirty="0"/>
          </a:p>
          <a:p>
            <a:pPr indent="0" marL="0">
              <a:buNone/>
            </a:pPr>
            <a:r>
              <a:rPr lang="en-US" sz="1250" b="1" dirty="0">
                <a:solidFill>
                  <a:srgbClr val="00B8D9"/>
                </a:solidFill>
                <a:latin typeface="Calibri" pitchFamily="34" charset="0"/>
                <a:ea typeface="Calibri" pitchFamily="34" charset="-122"/>
                <a:cs typeface="Calibri" pitchFamily="34" charset="-120"/>
              </a:rPr>
              <a:t>Internship Organization: Fantasy Solution</a:t>
            </a:r>
            <a:endParaRPr lang="en-US" sz="1250" dirty="0"/>
          </a:p>
        </p:txBody>
      </p:sp>
      <p:sp>
        <p:nvSpPr>
          <p:cNvPr id="8" name="Shape 5"/>
          <p:cNvSpPr/>
          <p:nvPr/>
        </p:nvSpPr>
        <p:spPr>
          <a:xfrm>
            <a:off x="5486400" y="4160520"/>
            <a:ext cx="1097280" cy="228600"/>
          </a:xfrm>
          <a:prstGeom prst="line">
            <a:avLst/>
          </a:prstGeom>
          <a:noFill/>
          <a:ln w="22225">
            <a:solidFill>
              <a:srgbClr val="2F5E93"/>
            </a:solidFill>
            <a:prstDash val="solid"/>
          </a:ln>
        </p:spPr>
      </p:sp>
      <p:sp>
        <p:nvSpPr>
          <p:cNvPr id="9" name="Shape 6"/>
          <p:cNvSpPr/>
          <p:nvPr/>
        </p:nvSpPr>
        <p:spPr>
          <a:xfrm flipV="1">
            <a:off x="6583680" y="4206240"/>
            <a:ext cx="1280160" cy="182880"/>
          </a:xfrm>
          <a:prstGeom prst="line">
            <a:avLst/>
          </a:prstGeom>
          <a:noFill/>
          <a:ln w="22225">
            <a:solidFill>
              <a:srgbClr val="2F5E93"/>
            </a:solidFill>
            <a:prstDash val="solid"/>
          </a:ln>
        </p:spPr>
      </p:sp>
      <p:sp>
        <p:nvSpPr>
          <p:cNvPr id="10" name="Shape 7"/>
          <p:cNvSpPr/>
          <p:nvPr/>
        </p:nvSpPr>
        <p:spPr>
          <a:xfrm flipV="1">
            <a:off x="7863840" y="3566160"/>
            <a:ext cx="822960" cy="640080"/>
          </a:xfrm>
          <a:prstGeom prst="line">
            <a:avLst/>
          </a:prstGeom>
          <a:noFill/>
          <a:ln w="22225">
            <a:solidFill>
              <a:srgbClr val="2F5E93"/>
            </a:solidFill>
            <a:prstDash val="solid"/>
          </a:ln>
        </p:spPr>
      </p:sp>
      <p:sp>
        <p:nvSpPr>
          <p:cNvPr id="11" name="Shape 8"/>
          <p:cNvSpPr/>
          <p:nvPr/>
        </p:nvSpPr>
        <p:spPr>
          <a:xfrm flipV="1">
            <a:off x="8686800" y="502920"/>
            <a:ext cx="0" cy="3063240"/>
          </a:xfrm>
          <a:prstGeom prst="line">
            <a:avLst/>
          </a:prstGeom>
          <a:noFill/>
          <a:ln w="22225">
            <a:solidFill>
              <a:srgbClr val="2F5E93"/>
            </a:solidFill>
            <a:prstDash val="solid"/>
          </a:ln>
        </p:spPr>
      </p:sp>
      <p:sp>
        <p:nvSpPr>
          <p:cNvPr id="12" name="Shape 9"/>
          <p:cNvSpPr/>
          <p:nvPr/>
        </p:nvSpPr>
        <p:spPr>
          <a:xfrm flipH="1">
            <a:off x="5577840" y="502920"/>
            <a:ext cx="3108960" cy="45720"/>
          </a:xfrm>
          <a:prstGeom prst="line">
            <a:avLst/>
          </a:prstGeom>
          <a:noFill/>
          <a:ln w="22225">
            <a:solidFill>
              <a:srgbClr val="2F5E93"/>
            </a:solidFill>
            <a:prstDash val="solid"/>
          </a:ln>
        </p:spPr>
      </p:sp>
      <p:sp>
        <p:nvSpPr>
          <p:cNvPr id="13" name="Shape 10"/>
          <p:cNvSpPr/>
          <p:nvPr/>
        </p:nvSpPr>
        <p:spPr>
          <a:xfrm>
            <a:off x="5394960" y="4069080"/>
            <a:ext cx="182880" cy="182880"/>
          </a:xfrm>
          <a:prstGeom prst="ellipse">
            <a:avLst/>
          </a:prstGeom>
          <a:solidFill>
            <a:srgbClr val="00B8D9"/>
          </a:solidFill>
          <a:ln w="12700">
            <a:solidFill>
              <a:srgbClr val="FFFFFF"/>
            </a:solidFill>
            <a:prstDash val="solid"/>
          </a:ln>
        </p:spPr>
      </p:sp>
      <p:sp>
        <p:nvSpPr>
          <p:cNvPr id="14" name="Shape 11"/>
          <p:cNvSpPr/>
          <p:nvPr/>
        </p:nvSpPr>
        <p:spPr>
          <a:xfrm>
            <a:off x="6492240" y="4297680"/>
            <a:ext cx="182880" cy="182880"/>
          </a:xfrm>
          <a:prstGeom prst="ellipse">
            <a:avLst/>
          </a:prstGeom>
          <a:solidFill>
            <a:srgbClr val="00B8D9"/>
          </a:solidFill>
          <a:ln w="12700">
            <a:solidFill>
              <a:srgbClr val="FFFFFF"/>
            </a:solidFill>
            <a:prstDash val="solid"/>
          </a:ln>
        </p:spPr>
      </p:sp>
      <p:sp>
        <p:nvSpPr>
          <p:cNvPr id="15" name="Shape 12"/>
          <p:cNvSpPr/>
          <p:nvPr/>
        </p:nvSpPr>
        <p:spPr>
          <a:xfrm>
            <a:off x="7772400" y="4114800"/>
            <a:ext cx="182880" cy="182880"/>
          </a:xfrm>
          <a:prstGeom prst="ellipse">
            <a:avLst/>
          </a:prstGeom>
          <a:solidFill>
            <a:srgbClr val="00B8D9"/>
          </a:solidFill>
          <a:ln w="12700">
            <a:solidFill>
              <a:srgbClr val="FFFFFF"/>
            </a:solidFill>
            <a:prstDash val="solid"/>
          </a:ln>
        </p:spPr>
      </p:sp>
      <p:sp>
        <p:nvSpPr>
          <p:cNvPr id="16" name="Shape 13"/>
          <p:cNvSpPr/>
          <p:nvPr/>
        </p:nvSpPr>
        <p:spPr>
          <a:xfrm>
            <a:off x="8595360" y="3474720"/>
            <a:ext cx="182880" cy="182880"/>
          </a:xfrm>
          <a:prstGeom prst="ellipse">
            <a:avLst/>
          </a:prstGeom>
          <a:solidFill>
            <a:srgbClr val="00B8D9"/>
          </a:solidFill>
          <a:ln w="12700">
            <a:solidFill>
              <a:srgbClr val="FFFFFF"/>
            </a:solidFill>
            <a:prstDash val="solid"/>
          </a:ln>
        </p:spPr>
      </p:sp>
      <p:sp>
        <p:nvSpPr>
          <p:cNvPr id="17" name="Shape 14"/>
          <p:cNvSpPr/>
          <p:nvPr/>
        </p:nvSpPr>
        <p:spPr>
          <a:xfrm>
            <a:off x="8595360" y="411480"/>
            <a:ext cx="182880" cy="182880"/>
          </a:xfrm>
          <a:prstGeom prst="ellipse">
            <a:avLst/>
          </a:prstGeom>
          <a:solidFill>
            <a:srgbClr val="00B8D9"/>
          </a:solidFill>
          <a:ln w="12700">
            <a:solidFill>
              <a:srgbClr val="FFFFFF"/>
            </a:solidFill>
            <a:prstDash val="solid"/>
          </a:ln>
        </p:spPr>
      </p:sp>
      <p:sp>
        <p:nvSpPr>
          <p:cNvPr id="18" name="Shape 15"/>
          <p:cNvSpPr/>
          <p:nvPr/>
        </p:nvSpPr>
        <p:spPr>
          <a:xfrm>
            <a:off x="5486400" y="457200"/>
            <a:ext cx="182880" cy="182880"/>
          </a:xfrm>
          <a:prstGeom prst="ellipse">
            <a:avLst/>
          </a:prstGeom>
          <a:solidFill>
            <a:srgbClr val="00B8D9"/>
          </a:solidFill>
          <a:ln w="12700">
            <a:solidFill>
              <a:srgbClr val="FFFFFF"/>
            </a:solidFill>
            <a:prstDash val="solid"/>
          </a:ln>
        </p:spPr>
      </p:sp>
      <p:sp>
        <p:nvSpPr>
          <p:cNvPr id="19" name="Shape 16"/>
          <p:cNvSpPr/>
          <p:nvPr/>
        </p:nvSpPr>
        <p:spPr>
          <a:xfrm>
            <a:off x="5760720" y="868680"/>
            <a:ext cx="2926080" cy="3017520"/>
          </a:xfrm>
          <a:prstGeom prst="roundRect">
            <a:avLst>
              <a:gd name="adj" fmla="val 3750"/>
            </a:avLst>
          </a:prstGeom>
          <a:solidFill>
            <a:srgbClr val="12305C"/>
          </a:solidFill>
          <a:ln w="19050">
            <a:solidFill>
              <a:srgbClr val="00B8D9"/>
            </a:solidFill>
            <a:prstDash val="solid"/>
          </a:ln>
        </p:spPr>
      </p:sp>
      <p:sp>
        <p:nvSpPr>
          <p:cNvPr id="20" name="Shape 17"/>
          <p:cNvSpPr/>
          <p:nvPr/>
        </p:nvSpPr>
        <p:spPr>
          <a:xfrm>
            <a:off x="5760720" y="868680"/>
            <a:ext cx="2926080" cy="365760"/>
          </a:xfrm>
          <a:prstGeom prst="rect">
            <a:avLst/>
          </a:prstGeom>
          <a:solidFill>
            <a:srgbClr val="00B8D9"/>
          </a:solidFill>
          <a:ln w="12700">
            <a:solidFill>
              <a:srgbClr val="00B8D9"/>
            </a:solidFill>
            <a:prstDash val="solid"/>
          </a:ln>
        </p:spPr>
      </p:sp>
      <p:sp>
        <p:nvSpPr>
          <p:cNvPr id="21" name="Text 18"/>
          <p:cNvSpPr txBox="1"/>
          <p:nvPr/>
        </p:nvSpPr>
        <p:spPr>
          <a:xfrm>
            <a:off x="5852160" y="868680"/>
            <a:ext cx="2377440" cy="3657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Customer Support Bot</a:t>
            </a:r>
            <a:endParaRPr lang="en-US" sz="1100" dirty="0"/>
          </a:p>
        </p:txBody>
      </p:sp>
      <p:pic>
        <p:nvPicPr>
          <p:cNvPr id="22" name="Image 0" descr="preencoded.png">    </p:cNvPr>
          <p:cNvPicPr>
            <a:picLocks noChangeAspect="1"/>
          </p:cNvPicPr>
          <p:nvPr/>
        </p:nvPicPr>
        <p:blipFill>
          <a:blip r:embed="rId1"/>
          <a:stretch>
            <a:fillRect/>
          </a:stretch>
        </p:blipFill>
        <p:spPr>
          <a:xfrm>
            <a:off x="8275320" y="914400"/>
            <a:ext cx="274320" cy="274320"/>
          </a:xfrm>
          <a:prstGeom prst="rect">
            <a:avLst/>
          </a:prstGeom>
        </p:spPr>
      </p:pic>
      <p:sp>
        <p:nvSpPr>
          <p:cNvPr id="23" name="Text 19"/>
          <p:cNvSpPr txBox="1"/>
          <p:nvPr/>
        </p:nvSpPr>
        <p:spPr>
          <a:xfrm>
            <a:off x="5897880" y="1371600"/>
            <a:ext cx="2103120" cy="411480"/>
          </a:xfrm>
          <a:prstGeom prst="roundRect">
            <a:avLst>
              <a:gd name="adj" fmla="val 17778"/>
            </a:avLst>
          </a:prstGeom>
          <a:solidFill>
            <a:srgbClr val="00A5C7"/>
          </a:solidFill>
          <a:ln w="12700">
            <a:solidFill>
              <a:srgbClr val="00A5C7"/>
            </a:solidFill>
          </a:ln>
        </p:spPr>
        <p:txBody>
          <a:bodyPr wrap="square" lIns="508" tIns="508" rIns="508" bIns="508"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Hi! How can I help you today?</a:t>
            </a:r>
            <a:endParaRPr lang="en-US" sz="950" dirty="0"/>
          </a:p>
        </p:txBody>
      </p:sp>
      <p:sp>
        <p:nvSpPr>
          <p:cNvPr id="24" name="Text 20"/>
          <p:cNvSpPr txBox="1"/>
          <p:nvPr/>
        </p:nvSpPr>
        <p:spPr>
          <a:xfrm>
            <a:off x="6583680" y="1920240"/>
            <a:ext cx="1965960" cy="365760"/>
          </a:xfrm>
          <a:prstGeom prst="roundRect">
            <a:avLst>
              <a:gd name="adj" fmla="val 20000"/>
            </a:avLst>
          </a:prstGeom>
          <a:solidFill>
            <a:srgbClr val="FFFFFF"/>
          </a:solidFill>
          <a:ln w="12700">
            <a:solidFill>
              <a:srgbClr val="FFFFFF"/>
            </a:solidFill>
          </a:ln>
        </p:spPr>
        <p:txBody>
          <a:bodyPr wrap="square" lIns="508" tIns="508" rIns="508" bIns="508"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Where is my order?</a:t>
            </a:r>
            <a:endParaRPr lang="en-US" sz="950" dirty="0"/>
          </a:p>
        </p:txBody>
      </p:sp>
      <p:sp>
        <p:nvSpPr>
          <p:cNvPr id="25" name="Text 21"/>
          <p:cNvSpPr txBox="1"/>
          <p:nvPr/>
        </p:nvSpPr>
        <p:spPr>
          <a:xfrm>
            <a:off x="5897880" y="2423160"/>
            <a:ext cx="2377440" cy="457200"/>
          </a:xfrm>
          <a:prstGeom prst="roundRect">
            <a:avLst>
              <a:gd name="adj" fmla="val 16000"/>
            </a:avLst>
          </a:prstGeom>
          <a:solidFill>
            <a:srgbClr val="00A5C7"/>
          </a:solidFill>
          <a:ln w="12700">
            <a:solidFill>
              <a:srgbClr val="00A5C7"/>
            </a:solidFill>
          </a:ln>
        </p:spPr>
        <p:txBody>
          <a:bodyPr wrap="square" lIns="508" tIns="508" rIns="508" bIns="508"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 can help you check your order status.</a:t>
            </a:r>
            <a:endParaRPr lang="en-US" sz="950" dirty="0"/>
          </a:p>
        </p:txBody>
      </p:sp>
      <p:sp>
        <p:nvSpPr>
          <p:cNvPr id="26" name="Text 22"/>
          <p:cNvSpPr txBox="1"/>
          <p:nvPr/>
        </p:nvSpPr>
        <p:spPr>
          <a:xfrm>
            <a:off x="5897880" y="3017520"/>
            <a:ext cx="2560320" cy="457200"/>
          </a:xfrm>
          <a:prstGeom prst="roundRect">
            <a:avLst>
              <a:gd name="adj" fmla="val 16000"/>
            </a:avLst>
          </a:prstGeom>
          <a:solidFill>
            <a:srgbClr val="F5A623"/>
          </a:solidFill>
          <a:ln w="12700">
            <a:solidFill>
              <a:srgbClr val="F5A623"/>
            </a:solidFill>
          </a:ln>
        </p:spPr>
        <p:txBody>
          <a:bodyPr wrap="square" lIns="508" tIns="508" rIns="508" bIns="508"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Complex issue? Escalating to a human agent</a:t>
            </a:r>
            <a:endParaRPr lang="en-US" sz="900" dirty="0"/>
          </a:p>
        </p:txBody>
      </p:sp>
      <p:sp>
        <p:nvSpPr>
          <p:cNvPr id="27" name="Text 23"/>
          <p:cNvSpPr txBox="1"/>
          <p:nvPr/>
        </p:nvSpPr>
        <p:spPr>
          <a:xfrm>
            <a:off x="5852160" y="3520440"/>
            <a:ext cx="2743200" cy="274320"/>
          </a:xfrm>
          <a:prstGeom prst="rect">
            <a:avLst/>
          </a:prstGeom>
          <a:noFill/>
          <a:ln/>
        </p:spPr>
        <p:txBody>
          <a:bodyPr wrap="square" lIns="635" tIns="635" rIns="635" bIns="635" rtlCol="0" anchor="t"/>
          <a:lstStyle/>
          <a:p>
            <a:pPr algn="ctr" indent="0" marL="0">
              <a:buNone/>
            </a:pPr>
            <a:r>
              <a:rPr lang="en-US" sz="900" dirty="0">
                <a:solidFill>
                  <a:srgbClr val="BFE3EE"/>
                </a:solidFill>
                <a:latin typeface="Calibri" pitchFamily="34" charset="0"/>
                <a:ea typeface="Calibri" pitchFamily="34" charset="-122"/>
                <a:cs typeface="Calibri" pitchFamily="34" charset="-120"/>
              </a:rPr>
              <a:t>AI  •  NLP  •  Machine Learning  •  Flask</a:t>
            </a:r>
            <a:endParaRPr lang="en-US" sz="900" dirty="0"/>
          </a:p>
        </p:txBody>
      </p:sp>
      <p:pic>
        <p:nvPicPr>
          <p:cNvPr id="28" name="Image 1" descr="preencoded.png">    </p:cNvPr>
          <p:cNvPicPr>
            <a:picLocks noChangeAspect="1"/>
          </p:cNvPicPr>
          <p:nvPr/>
        </p:nvPicPr>
        <p:blipFill>
          <a:blip r:embed="rId2"/>
          <a:stretch>
            <a:fillRect/>
          </a:stretch>
        </p:blipFill>
        <p:spPr>
          <a:xfrm>
            <a:off x="7223760" y="402336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Introduction</a:t>
            </a:r>
            <a:endParaRPr lang="en-US" sz="2200" dirty="0"/>
          </a:p>
        </p:txBody>
      </p:sp>
      <p:sp>
        <p:nvSpPr>
          <p:cNvPr id="4" name="Text 1"/>
          <p:cNvSpPr txBox="1"/>
          <p:nvPr/>
        </p:nvSpPr>
        <p:spPr>
          <a:xfrm>
            <a:off x="365760" y="914400"/>
            <a:ext cx="4937760" cy="3108960"/>
          </a:xfrm>
          <a:prstGeom prst="rect">
            <a:avLst/>
          </a:prstGeom>
          <a:noFill/>
          <a:ln/>
        </p:spPr>
        <p:txBody>
          <a:bodyPr wrap="square" lIns="635" tIns="635" rIns="635" bIns="635" rtlCol="0" anchor="t"/>
          <a:lstStyle/>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Customer support helps businesses answer questions, resolve complaints and provide service-related information.</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Traditional support often depends on human agents handling repetitive queries.</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Manual support may cause long waiting times, limited availability and increased operational workload.</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Artificial Intelligence lets systems understand customer messages and respond automatically.</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Natural Language Processing helps computers process and interpret human language.</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Machine Learning can classify customer queries into predefined categories.</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An AI chatbot can answer frequently asked and common service-related queries automatically.</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Complex or uncertain queries can be redirected to human support agents.</a:t>
            </a:r>
            <a:endParaRPr lang="en-US" sz="1050" dirty="0"/>
          </a:p>
        </p:txBody>
      </p:sp>
      <p:sp>
        <p:nvSpPr>
          <p:cNvPr id="5" name="Shape 2"/>
          <p:cNvSpPr/>
          <p:nvPr/>
        </p:nvSpPr>
        <p:spPr>
          <a:xfrm>
            <a:off x="5486400" y="914400"/>
            <a:ext cx="3291840" cy="1463040"/>
          </a:xfrm>
          <a:prstGeom prst="rect">
            <a:avLst/>
          </a:prstGeom>
          <a:solidFill>
            <a:srgbClr val="FFFFFF"/>
          </a:solidFill>
          <a:ln w="12700">
            <a:solidFill>
              <a:srgbClr val="BFE3EE"/>
            </a:solidFill>
            <a:prstDash val="solid"/>
          </a:ln>
        </p:spPr>
      </p:sp>
      <p:sp>
        <p:nvSpPr>
          <p:cNvPr id="6" name="Shape 3"/>
          <p:cNvSpPr/>
          <p:nvPr/>
        </p:nvSpPr>
        <p:spPr>
          <a:xfrm>
            <a:off x="5486400" y="914400"/>
            <a:ext cx="3291840" cy="274320"/>
          </a:xfrm>
          <a:prstGeom prst="rect">
            <a:avLst/>
          </a:prstGeom>
          <a:solidFill>
            <a:srgbClr val="C0392B"/>
          </a:solidFill>
          <a:ln w="12700">
            <a:solidFill>
              <a:srgbClr val="C0392B"/>
            </a:solidFill>
            <a:prstDash val="solid"/>
          </a:ln>
        </p:spPr>
      </p:sp>
      <p:sp>
        <p:nvSpPr>
          <p:cNvPr id="7" name="Text 4"/>
          <p:cNvSpPr txBox="1"/>
          <p:nvPr/>
        </p:nvSpPr>
        <p:spPr>
          <a:xfrm>
            <a:off x="5532120" y="914400"/>
            <a:ext cx="320040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Traditional Support (Human-based)</a:t>
            </a:r>
            <a:endParaRPr lang="en-US" sz="1100" dirty="0"/>
          </a:p>
        </p:txBody>
      </p:sp>
      <p:sp>
        <p:nvSpPr>
          <p:cNvPr id="8" name="Text 5"/>
          <p:cNvSpPr txBox="1"/>
          <p:nvPr/>
        </p:nvSpPr>
        <p:spPr>
          <a:xfrm>
            <a:off x="5532120" y="1234440"/>
            <a:ext cx="3200400" cy="1097280"/>
          </a:xfrm>
          <a:prstGeom prst="rect">
            <a:avLst/>
          </a:prstGeom>
          <a:noFill/>
          <a:ln/>
        </p:spPr>
        <p:txBody>
          <a:bodyPr wrap="square" lIns="635" tIns="635" rIns="635" bIns="635" rtlCol="0" anchor="t"/>
          <a:lstStyle/>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Agents answer repeated questions</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Customers wait for availability</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Limited working hours</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Responses vary by agent</a:t>
            </a:r>
            <a:endParaRPr lang="en-US" sz="950" dirty="0"/>
          </a:p>
        </p:txBody>
      </p:sp>
      <p:sp>
        <p:nvSpPr>
          <p:cNvPr id="9" name="Shape 6"/>
          <p:cNvSpPr/>
          <p:nvPr/>
        </p:nvSpPr>
        <p:spPr>
          <a:xfrm>
            <a:off x="5486400" y="2514600"/>
            <a:ext cx="3291840" cy="1508760"/>
          </a:xfrm>
          <a:prstGeom prst="rect">
            <a:avLst/>
          </a:prstGeom>
          <a:solidFill>
            <a:srgbClr val="FFFFFF"/>
          </a:solidFill>
          <a:ln w="12700">
            <a:solidFill>
              <a:srgbClr val="BFE3EE"/>
            </a:solidFill>
            <a:prstDash val="solid"/>
          </a:ln>
        </p:spPr>
      </p:sp>
      <p:sp>
        <p:nvSpPr>
          <p:cNvPr id="10" name="Shape 7"/>
          <p:cNvSpPr/>
          <p:nvPr/>
        </p:nvSpPr>
        <p:spPr>
          <a:xfrm>
            <a:off x="5486400" y="2514600"/>
            <a:ext cx="3291840" cy="274320"/>
          </a:xfrm>
          <a:prstGeom prst="rect">
            <a:avLst/>
          </a:prstGeom>
          <a:solidFill>
            <a:srgbClr val="0E7C86"/>
          </a:solidFill>
          <a:ln w="12700">
            <a:solidFill>
              <a:srgbClr val="0E7C86"/>
            </a:solidFill>
            <a:prstDash val="solid"/>
          </a:ln>
        </p:spPr>
      </p:sp>
      <p:sp>
        <p:nvSpPr>
          <p:cNvPr id="11" name="Text 8"/>
          <p:cNvSpPr txBox="1"/>
          <p:nvPr/>
        </p:nvSpPr>
        <p:spPr>
          <a:xfrm>
            <a:off x="5532120" y="2514600"/>
            <a:ext cx="320040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Chatbot Support</a:t>
            </a:r>
            <a:endParaRPr lang="en-US" sz="1100" dirty="0"/>
          </a:p>
        </p:txBody>
      </p:sp>
      <p:sp>
        <p:nvSpPr>
          <p:cNvPr id="12" name="Text 9"/>
          <p:cNvSpPr txBox="1"/>
          <p:nvPr/>
        </p:nvSpPr>
        <p:spPr>
          <a:xfrm>
            <a:off x="5532120" y="2834640"/>
            <a:ext cx="3200400" cy="1143000"/>
          </a:xfrm>
          <a:prstGeom prst="rect">
            <a:avLst/>
          </a:prstGeom>
          <a:noFill/>
          <a:ln/>
        </p:spPr>
        <p:txBody>
          <a:bodyPr wrap="square" lIns="635" tIns="635" rIns="635" bIns="635" rtlCol="0" anchor="t"/>
          <a:lstStyle/>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Automated answers to common queries</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NLP + ML intent classification</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Consistent, intent-based responses</a:t>
            </a:r>
            <a:endParaRPr lang="en-US" sz="950" dirty="0"/>
          </a:p>
          <a:p>
            <a:pPr marL="127000" indent="-127000">
              <a:spcAft>
                <a:spcPts val="200"/>
              </a:spcAft>
              <a:buSzPct val="100000"/>
              <a:buChar char="•"/>
            </a:pPr>
            <a:r>
              <a:rPr lang="en-US" sz="950" dirty="0">
                <a:solidFill>
                  <a:srgbClr val="1F2A3C"/>
                </a:solidFill>
                <a:latin typeface="Calibri" pitchFamily="34" charset="0"/>
                <a:ea typeface="Calibri" pitchFamily="34" charset="-122"/>
                <a:cs typeface="Calibri" pitchFamily="34" charset="-120"/>
              </a:rPr>
              <a:t>Human escalation for complex queries</a:t>
            </a:r>
            <a:endParaRPr lang="en-US" sz="950" dirty="0"/>
          </a:p>
        </p:txBody>
      </p:sp>
      <p:sp>
        <p:nvSpPr>
          <p:cNvPr id="13" name="Shape 10"/>
          <p:cNvSpPr/>
          <p:nvPr/>
        </p:nvSpPr>
        <p:spPr>
          <a:xfrm>
            <a:off x="365760" y="4160520"/>
            <a:ext cx="8412480" cy="594360"/>
          </a:xfrm>
          <a:prstGeom prst="roundRect">
            <a:avLst>
              <a:gd name="adj" fmla="val 12308"/>
            </a:avLst>
          </a:prstGeom>
          <a:solidFill>
            <a:srgbClr val="0B1F3A"/>
          </a:solidFill>
          <a:ln w="12700">
            <a:solidFill>
              <a:srgbClr val="00B8D9"/>
            </a:solidFill>
            <a:prstDash val="solid"/>
          </a:ln>
        </p:spPr>
      </p:sp>
      <p:sp>
        <p:nvSpPr>
          <p:cNvPr id="14" name="Text 11"/>
          <p:cNvSpPr txBox="1"/>
          <p:nvPr/>
        </p:nvSpPr>
        <p:spPr>
          <a:xfrm>
            <a:off x="502920" y="4160520"/>
            <a:ext cx="8138160" cy="594360"/>
          </a:xfrm>
          <a:prstGeom prst="rect">
            <a:avLst/>
          </a:prstGeom>
          <a:noFill/>
          <a:ln/>
        </p:spPr>
        <p:txBody>
          <a:bodyPr wrap="square" lIns="635" tIns="635" rIns="635" bIns="635" rtlCol="0" anchor="ctr"/>
          <a:lstStyle/>
          <a:p>
            <a:pPr indent="0" marL="0">
              <a:buNone/>
            </a:pPr>
            <a:r>
              <a:rPr lang="en-US" sz="1100" b="1" dirty="0">
                <a:solidFill>
                  <a:srgbClr val="00B8D9"/>
                </a:solidFill>
                <a:latin typeface="Calibri" pitchFamily="34" charset="0"/>
                <a:ea typeface="Calibri" pitchFamily="34" charset="-122"/>
                <a:cs typeface="Calibri" pitchFamily="34" charset="-120"/>
              </a:rPr>
              <a:t>Project purpose: </a:t>
            </a:r>
            <a:pPr indent="0" marL="0">
              <a:buNone/>
            </a:pPr>
            <a:r>
              <a:rPr lang="en-US" sz="1100" dirty="0">
                <a:solidFill>
                  <a:srgbClr val="FFFFFF"/>
                </a:solidFill>
                <a:latin typeface="Calibri" pitchFamily="34" charset="0"/>
                <a:ea typeface="Calibri" pitchFamily="34" charset="-122"/>
                <a:cs typeface="Calibri" pitchFamily="34" charset="-120"/>
              </a:rPr>
              <a:t>develop a web-based AI-powered chatbot that automates common customer support interactions and improves response consistency and service efficiency.</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About Fantasy Solution</a:t>
            </a:r>
            <a:endParaRPr lang="en-US" sz="2200" dirty="0"/>
          </a:p>
        </p:txBody>
      </p:sp>
      <p:sp>
        <p:nvSpPr>
          <p:cNvPr id="4" name="Shape 1"/>
          <p:cNvSpPr/>
          <p:nvPr/>
        </p:nvSpPr>
        <p:spPr>
          <a:xfrm>
            <a:off x="365760" y="914400"/>
            <a:ext cx="4754880" cy="2331720"/>
          </a:xfrm>
          <a:prstGeom prst="rect">
            <a:avLst/>
          </a:prstGeom>
          <a:solidFill>
            <a:srgbClr val="FFFFFF"/>
          </a:solidFill>
          <a:ln w="12700">
            <a:solidFill>
              <a:srgbClr val="BFE3EE"/>
            </a:solidFill>
            <a:prstDash val="solid"/>
          </a:ln>
        </p:spPr>
      </p:sp>
      <p:sp>
        <p:nvSpPr>
          <p:cNvPr id="5" name="Shape 2"/>
          <p:cNvSpPr/>
          <p:nvPr/>
        </p:nvSpPr>
        <p:spPr>
          <a:xfrm>
            <a:off x="365760" y="914400"/>
            <a:ext cx="64008" cy="2331720"/>
          </a:xfrm>
          <a:prstGeom prst="rect">
            <a:avLst/>
          </a:prstGeom>
          <a:solidFill>
            <a:srgbClr val="00B8D9"/>
          </a:solidFill>
          <a:ln w="12700">
            <a:solidFill>
              <a:srgbClr val="00B8D9"/>
            </a:solidFill>
            <a:prstDash val="solid"/>
          </a:ln>
        </p:spPr>
      </p:sp>
      <p:sp>
        <p:nvSpPr>
          <p:cNvPr id="6" name="Text 3"/>
          <p:cNvSpPr txBox="1"/>
          <p:nvPr/>
        </p:nvSpPr>
        <p:spPr>
          <a:xfrm>
            <a:off x="548640" y="960120"/>
            <a:ext cx="4480560" cy="2240280"/>
          </a:xfrm>
          <a:prstGeom prst="rect">
            <a:avLst/>
          </a:prstGeom>
          <a:noFill/>
          <a:ln/>
        </p:spPr>
        <p:txBody>
          <a:bodyPr wrap="square" lIns="635" tIns="635" rIns="635" bIns="635"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Organization Name</a:t>
            </a:r>
            <a:endParaRPr lang="en-US" sz="1100" dirty="0"/>
          </a:p>
          <a:p>
            <a:pPr indent="0" marL="0">
              <a:spcAft>
                <a:spcPts val="600"/>
              </a:spcAft>
              <a:buNone/>
            </a:pPr>
            <a:r>
              <a:rPr lang="en-US" sz="1100" dirty="0">
                <a:solidFill>
                  <a:srgbClr val="1F2A3C"/>
                </a:solidFill>
                <a:latin typeface="Calibri" pitchFamily="34" charset="0"/>
                <a:ea typeface="Calibri" pitchFamily="34" charset="-122"/>
                <a:cs typeface="Calibri" pitchFamily="34" charset="-120"/>
              </a:rPr>
              <a:t>Fantasy Solution</a:t>
            </a:r>
            <a:endParaRPr lang="en-US" sz="1100" dirty="0"/>
          </a:p>
          <a:p>
            <a:pPr indent="0" marL="0">
              <a:buNone/>
            </a:pPr>
            <a:r>
              <a:rPr lang="en-US" sz="1100" b="1" dirty="0">
                <a:solidFill>
                  <a:srgbClr val="0E7C86"/>
                </a:solidFill>
                <a:latin typeface="Calibri" pitchFamily="34" charset="0"/>
                <a:ea typeface="Calibri" pitchFamily="34" charset="-122"/>
                <a:cs typeface="Calibri" pitchFamily="34" charset="-120"/>
              </a:rPr>
              <a:t>Address</a:t>
            </a:r>
            <a:endParaRPr lang="en-US" sz="1100" dirty="0"/>
          </a:p>
          <a:p>
            <a:pPr indent="0" marL="0">
              <a:spcAft>
                <a:spcPts val="600"/>
              </a:spcAft>
              <a:buNone/>
            </a:pPr>
            <a:r>
              <a:rPr lang="en-US" sz="1100" dirty="0">
                <a:solidFill>
                  <a:srgbClr val="1F2A3C"/>
                </a:solidFill>
                <a:latin typeface="Calibri" pitchFamily="34" charset="0"/>
                <a:ea typeface="Calibri" pitchFamily="34" charset="-122"/>
                <a:cs typeface="Calibri" pitchFamily="34" charset="-120"/>
              </a:rPr>
              <a:t>No. 16, Samnath Plazza, Third Floor, Near BG Naidu Sweets, Melapudur, Tiruchirappalli – 1</a:t>
            </a:r>
            <a:endParaRPr lang="en-US" sz="1100" dirty="0"/>
          </a:p>
          <a:p>
            <a:pPr indent="0" marL="0">
              <a:buNone/>
            </a:pPr>
            <a:r>
              <a:rPr lang="en-US" sz="1100" b="1" dirty="0">
                <a:solidFill>
                  <a:srgbClr val="0E7C86"/>
                </a:solidFill>
                <a:latin typeface="Calibri" pitchFamily="34" charset="0"/>
                <a:ea typeface="Calibri" pitchFamily="34" charset="-122"/>
                <a:cs typeface="Calibri" pitchFamily="34" charset="-120"/>
              </a:rPr>
              <a:t>Internship Project</a:t>
            </a:r>
            <a:endParaRPr lang="en-US" sz="1100" dirty="0"/>
          </a:p>
          <a:p>
            <a:pPr indent="0" marL="0">
              <a:spcAft>
                <a:spcPts val="600"/>
              </a:spcAft>
              <a:buNone/>
            </a:pPr>
            <a:r>
              <a:rPr lang="en-US" sz="1100" dirty="0">
                <a:solidFill>
                  <a:srgbClr val="1F2A3C"/>
                </a:solidFill>
                <a:latin typeface="Calibri" pitchFamily="34" charset="0"/>
                <a:ea typeface="Calibri" pitchFamily="34" charset="-122"/>
                <a:cs typeface="Calibri" pitchFamily="34" charset="-120"/>
              </a:rPr>
              <a:t>AI-Powered Customer Support Chatbot</a:t>
            </a:r>
            <a:endParaRPr lang="en-US" sz="1100" dirty="0"/>
          </a:p>
          <a:p>
            <a:pPr indent="0" marL="0">
              <a:buNone/>
            </a:pPr>
            <a:r>
              <a:rPr lang="en-US" sz="1100" b="1" dirty="0">
                <a:solidFill>
                  <a:srgbClr val="0E7C86"/>
                </a:solidFill>
                <a:latin typeface="Calibri" pitchFamily="34" charset="0"/>
                <a:ea typeface="Calibri" pitchFamily="34" charset="-122"/>
                <a:cs typeface="Calibri" pitchFamily="34" charset="-120"/>
              </a:rPr>
              <a:t>Project Focus</a:t>
            </a:r>
            <a:endParaRPr lang="en-US" sz="1100" dirty="0"/>
          </a:p>
          <a:p>
            <a:pPr indent="0" marL="0">
              <a:buNone/>
            </a:pPr>
            <a:r>
              <a:rPr lang="en-US" sz="1100" dirty="0">
                <a:solidFill>
                  <a:srgbClr val="1F2A3C"/>
                </a:solidFill>
                <a:latin typeface="Calibri" pitchFamily="34" charset="0"/>
                <a:ea typeface="Calibri" pitchFamily="34" charset="-122"/>
                <a:cs typeface="Calibri" pitchFamily="34" charset="-120"/>
              </a:rPr>
              <a:t>AI-based automation, web application development, and customer support solutions.</a:t>
            </a:r>
            <a:endParaRPr lang="en-US" sz="1100" dirty="0"/>
          </a:p>
        </p:txBody>
      </p:sp>
      <p:sp>
        <p:nvSpPr>
          <p:cNvPr id="7" name="Shape 4"/>
          <p:cNvSpPr/>
          <p:nvPr/>
        </p:nvSpPr>
        <p:spPr>
          <a:xfrm>
            <a:off x="365760" y="3383280"/>
            <a:ext cx="4754880" cy="1325880"/>
          </a:xfrm>
          <a:prstGeom prst="rect">
            <a:avLst/>
          </a:prstGeom>
          <a:solidFill>
            <a:srgbClr val="FFFFFF"/>
          </a:solidFill>
          <a:ln w="12700">
            <a:solidFill>
              <a:srgbClr val="BFE3EE"/>
            </a:solidFill>
            <a:prstDash val="solid"/>
          </a:ln>
        </p:spPr>
      </p:sp>
      <p:sp>
        <p:nvSpPr>
          <p:cNvPr id="8" name="Shape 5"/>
          <p:cNvSpPr/>
          <p:nvPr/>
        </p:nvSpPr>
        <p:spPr>
          <a:xfrm>
            <a:off x="365760" y="3383280"/>
            <a:ext cx="4754880" cy="274320"/>
          </a:xfrm>
          <a:prstGeom prst="rect">
            <a:avLst/>
          </a:prstGeom>
          <a:solidFill>
            <a:srgbClr val="12305C"/>
          </a:solidFill>
          <a:ln w="12700">
            <a:solidFill>
              <a:srgbClr val="12305C"/>
            </a:solidFill>
            <a:prstDash val="solid"/>
          </a:ln>
        </p:spPr>
      </p:sp>
      <p:sp>
        <p:nvSpPr>
          <p:cNvPr id="9" name="Text 6"/>
          <p:cNvSpPr txBox="1"/>
          <p:nvPr/>
        </p:nvSpPr>
        <p:spPr>
          <a:xfrm>
            <a:off x="411480" y="3383280"/>
            <a:ext cx="466344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Internship Experience</a:t>
            </a:r>
            <a:endParaRPr lang="en-US" sz="1100" dirty="0"/>
          </a:p>
        </p:txBody>
      </p:sp>
      <p:sp>
        <p:nvSpPr>
          <p:cNvPr id="10" name="Text 7"/>
          <p:cNvSpPr txBox="1"/>
          <p:nvPr/>
        </p:nvSpPr>
        <p:spPr>
          <a:xfrm>
            <a:off x="411480" y="3703320"/>
            <a:ext cx="4663440" cy="960120"/>
          </a:xfrm>
          <a:prstGeom prst="rect">
            <a:avLst/>
          </a:prstGeom>
          <a:noFill/>
          <a:ln/>
        </p:spPr>
        <p:txBody>
          <a:bodyPr wrap="square" lIns="635" tIns="635" rIns="635" bIns="635" rtlCol="0" anchor="t"/>
          <a:lstStyle/>
          <a:p>
            <a:pPr marL="127000" indent="-127000">
              <a:spcAft>
                <a:spcPts val="300"/>
              </a:spcAft>
              <a:buSzPct val="100000"/>
              <a:buChar char="•"/>
            </a:pPr>
            <a:r>
              <a:rPr lang="en-US" sz="1000" dirty="0">
                <a:solidFill>
                  <a:srgbClr val="1F2A3C"/>
                </a:solidFill>
                <a:latin typeface="Calibri" pitchFamily="34" charset="0"/>
                <a:ea typeface="Calibri" pitchFamily="34" charset="-122"/>
                <a:cs typeface="Calibri" pitchFamily="34" charset="-120"/>
              </a:rPr>
              <a:t>The internship offered hands-on exposure to developing a complete software application.</a:t>
            </a:r>
            <a:endParaRPr lang="en-US" sz="1000" dirty="0"/>
          </a:p>
          <a:p>
            <a:pPr marL="127000" indent="-127000">
              <a:spcAft>
                <a:spcPts val="300"/>
              </a:spcAft>
              <a:buSzPct val="100000"/>
              <a:buChar char="•"/>
            </a:pPr>
            <a:r>
              <a:rPr lang="en-US" sz="1000" dirty="0">
                <a:solidFill>
                  <a:srgbClr val="1F2A3C"/>
                </a:solidFill>
                <a:latin typeface="Calibri" pitchFamily="34" charset="0"/>
                <a:ea typeface="Calibri" pitchFamily="34" charset="-122"/>
                <a:cs typeface="Calibri" pitchFamily="34" charset="-120"/>
              </a:rPr>
              <a:t>It combined frontend technologies, backend programming, NLP, machine learning and database concepts.</a:t>
            </a:r>
            <a:endParaRPr lang="en-US" sz="1000" dirty="0"/>
          </a:p>
        </p:txBody>
      </p:sp>
      <p:sp>
        <p:nvSpPr>
          <p:cNvPr id="11" name="Text 8"/>
          <p:cNvSpPr txBox="1"/>
          <p:nvPr/>
        </p:nvSpPr>
        <p:spPr>
          <a:xfrm>
            <a:off x="5394960" y="868680"/>
            <a:ext cx="3383280" cy="274320"/>
          </a:xfrm>
          <a:prstGeom prst="rect">
            <a:avLst/>
          </a:prstGeom>
          <a:noFill/>
          <a:ln/>
        </p:spPr>
        <p:txBody>
          <a:bodyPr wrap="square" lIns="635" tIns="635" rIns="635" bIns="635" rtlCol="0" anchor="t"/>
          <a:lstStyle/>
          <a:p>
            <a:pPr indent="0" marL="0">
              <a:buNone/>
            </a:pPr>
            <a:r>
              <a:rPr lang="en-US" sz="1300" b="1" dirty="0">
                <a:solidFill>
                  <a:srgbClr val="12305C"/>
                </a:solidFill>
                <a:latin typeface="Calibri" pitchFamily="34" charset="0"/>
                <a:ea typeface="Calibri" pitchFamily="34" charset="-122"/>
                <a:cs typeface="Calibri" pitchFamily="34" charset="-120"/>
              </a:rPr>
              <a:t>Learning Areas</a:t>
            </a:r>
            <a:endParaRPr lang="en-US" sz="1300" dirty="0"/>
          </a:p>
        </p:txBody>
      </p:sp>
      <p:sp>
        <p:nvSpPr>
          <p:cNvPr id="12" name="Shape 9"/>
          <p:cNvSpPr/>
          <p:nvPr/>
        </p:nvSpPr>
        <p:spPr>
          <a:xfrm>
            <a:off x="5394960" y="1188720"/>
            <a:ext cx="3383280" cy="594360"/>
          </a:xfrm>
          <a:prstGeom prst="roundRect">
            <a:avLst>
              <a:gd name="adj" fmla="val 12308"/>
            </a:avLst>
          </a:prstGeom>
          <a:solidFill>
            <a:srgbClr val="FFFFFF"/>
          </a:solidFill>
          <a:ln w="12700">
            <a:solidFill>
              <a:srgbClr val="BFE3EE"/>
            </a:solidFill>
            <a:prstDash val="solid"/>
          </a:ln>
        </p:spPr>
      </p:sp>
      <p:sp>
        <p:nvSpPr>
          <p:cNvPr id="13" name="Shape 10"/>
          <p:cNvSpPr/>
          <p:nvPr/>
        </p:nvSpPr>
        <p:spPr>
          <a:xfrm>
            <a:off x="5486400" y="1261872"/>
            <a:ext cx="457200" cy="457200"/>
          </a:xfrm>
          <a:prstGeom prst="ellipse">
            <a:avLst/>
          </a:prstGeom>
          <a:solidFill>
            <a:srgbClr val="12305C"/>
          </a:solidFill>
          <a:ln w="12700">
            <a:solidFill>
              <a:srgbClr val="12305C"/>
            </a:solidFill>
            <a:prstDash val="solid"/>
          </a:ln>
        </p:spPr>
      </p:sp>
      <p:pic>
        <p:nvPicPr>
          <p:cNvPr id="14" name="Image 0" descr="preencoded.png">    </p:cNvPr>
          <p:cNvPicPr>
            <a:picLocks noChangeAspect="1"/>
          </p:cNvPicPr>
          <p:nvPr/>
        </p:nvPicPr>
        <p:blipFill>
          <a:blip r:embed="rId1"/>
          <a:stretch>
            <a:fillRect/>
          </a:stretch>
        </p:blipFill>
        <p:spPr>
          <a:xfrm>
            <a:off x="5596128" y="1371600"/>
            <a:ext cx="237744" cy="237744"/>
          </a:xfrm>
          <a:prstGeom prst="rect">
            <a:avLst/>
          </a:prstGeom>
        </p:spPr>
      </p:pic>
      <p:sp>
        <p:nvSpPr>
          <p:cNvPr id="15" name="Text 11"/>
          <p:cNvSpPr txBox="1"/>
          <p:nvPr/>
        </p:nvSpPr>
        <p:spPr>
          <a:xfrm>
            <a:off x="6080760" y="1188720"/>
            <a:ext cx="2651760" cy="5943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Web application development</a:t>
            </a:r>
            <a:endParaRPr lang="en-US" sz="1100" dirty="0"/>
          </a:p>
        </p:txBody>
      </p:sp>
      <p:sp>
        <p:nvSpPr>
          <p:cNvPr id="16" name="Shape 12"/>
          <p:cNvSpPr/>
          <p:nvPr/>
        </p:nvSpPr>
        <p:spPr>
          <a:xfrm>
            <a:off x="5394960" y="1892808"/>
            <a:ext cx="3383280" cy="594360"/>
          </a:xfrm>
          <a:prstGeom prst="roundRect">
            <a:avLst>
              <a:gd name="adj" fmla="val 12308"/>
            </a:avLst>
          </a:prstGeom>
          <a:solidFill>
            <a:srgbClr val="FFFFFF"/>
          </a:solidFill>
          <a:ln w="12700">
            <a:solidFill>
              <a:srgbClr val="BFE3EE"/>
            </a:solidFill>
            <a:prstDash val="solid"/>
          </a:ln>
        </p:spPr>
      </p:sp>
      <p:sp>
        <p:nvSpPr>
          <p:cNvPr id="17" name="Shape 13"/>
          <p:cNvSpPr/>
          <p:nvPr/>
        </p:nvSpPr>
        <p:spPr>
          <a:xfrm>
            <a:off x="5486400" y="1965960"/>
            <a:ext cx="457200" cy="457200"/>
          </a:xfrm>
          <a:prstGeom prst="ellipse">
            <a:avLst/>
          </a:prstGeom>
          <a:solidFill>
            <a:srgbClr val="12305C"/>
          </a:solidFill>
          <a:ln w="12700">
            <a:solidFill>
              <a:srgbClr val="12305C"/>
            </a:solidFill>
            <a:prstDash val="solid"/>
          </a:ln>
        </p:spPr>
      </p:sp>
      <p:pic>
        <p:nvPicPr>
          <p:cNvPr id="18" name="Image 1" descr="preencoded.png">    </p:cNvPr>
          <p:cNvPicPr>
            <a:picLocks noChangeAspect="1"/>
          </p:cNvPicPr>
          <p:nvPr/>
        </p:nvPicPr>
        <p:blipFill>
          <a:blip r:embed="rId2"/>
          <a:stretch>
            <a:fillRect/>
          </a:stretch>
        </p:blipFill>
        <p:spPr>
          <a:xfrm>
            <a:off x="5596128" y="2075688"/>
            <a:ext cx="237744" cy="237744"/>
          </a:xfrm>
          <a:prstGeom prst="rect">
            <a:avLst/>
          </a:prstGeom>
        </p:spPr>
      </p:pic>
      <p:sp>
        <p:nvSpPr>
          <p:cNvPr id="19" name="Text 14"/>
          <p:cNvSpPr txBox="1"/>
          <p:nvPr/>
        </p:nvSpPr>
        <p:spPr>
          <a:xfrm>
            <a:off x="6080760" y="1892808"/>
            <a:ext cx="2651760" cy="5943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Python-based backend development</a:t>
            </a:r>
            <a:endParaRPr lang="en-US" sz="1100" dirty="0"/>
          </a:p>
        </p:txBody>
      </p:sp>
      <p:sp>
        <p:nvSpPr>
          <p:cNvPr id="20" name="Shape 15"/>
          <p:cNvSpPr/>
          <p:nvPr/>
        </p:nvSpPr>
        <p:spPr>
          <a:xfrm>
            <a:off x="5394960" y="2596896"/>
            <a:ext cx="3383280" cy="594360"/>
          </a:xfrm>
          <a:prstGeom prst="roundRect">
            <a:avLst>
              <a:gd name="adj" fmla="val 12308"/>
            </a:avLst>
          </a:prstGeom>
          <a:solidFill>
            <a:srgbClr val="FFFFFF"/>
          </a:solidFill>
          <a:ln w="12700">
            <a:solidFill>
              <a:srgbClr val="BFE3EE"/>
            </a:solidFill>
            <a:prstDash val="solid"/>
          </a:ln>
        </p:spPr>
      </p:sp>
      <p:sp>
        <p:nvSpPr>
          <p:cNvPr id="21" name="Shape 16"/>
          <p:cNvSpPr/>
          <p:nvPr/>
        </p:nvSpPr>
        <p:spPr>
          <a:xfrm>
            <a:off x="5486400" y="2670048"/>
            <a:ext cx="457200" cy="457200"/>
          </a:xfrm>
          <a:prstGeom prst="ellipse">
            <a:avLst/>
          </a:prstGeom>
          <a:solidFill>
            <a:srgbClr val="12305C"/>
          </a:solidFill>
          <a:ln w="12700">
            <a:solidFill>
              <a:srgbClr val="12305C"/>
            </a:solidFill>
            <a:prstDash val="solid"/>
          </a:ln>
        </p:spPr>
      </p:sp>
      <p:pic>
        <p:nvPicPr>
          <p:cNvPr id="22" name="Image 2" descr="preencoded.png">    </p:cNvPr>
          <p:cNvPicPr>
            <a:picLocks noChangeAspect="1"/>
          </p:cNvPicPr>
          <p:nvPr/>
        </p:nvPicPr>
        <p:blipFill>
          <a:blip r:embed="rId3"/>
          <a:stretch>
            <a:fillRect/>
          </a:stretch>
        </p:blipFill>
        <p:spPr>
          <a:xfrm>
            <a:off x="5596128" y="2779776"/>
            <a:ext cx="237744" cy="237744"/>
          </a:xfrm>
          <a:prstGeom prst="rect">
            <a:avLst/>
          </a:prstGeom>
        </p:spPr>
      </p:pic>
      <p:sp>
        <p:nvSpPr>
          <p:cNvPr id="23" name="Text 17"/>
          <p:cNvSpPr txBox="1"/>
          <p:nvPr/>
        </p:nvSpPr>
        <p:spPr>
          <a:xfrm>
            <a:off x="6080760" y="2596896"/>
            <a:ext cx="2651760" cy="5943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NLP and machine learning integration</a:t>
            </a:r>
            <a:endParaRPr lang="en-US" sz="1100" dirty="0"/>
          </a:p>
        </p:txBody>
      </p:sp>
      <p:sp>
        <p:nvSpPr>
          <p:cNvPr id="24" name="Shape 18"/>
          <p:cNvSpPr/>
          <p:nvPr/>
        </p:nvSpPr>
        <p:spPr>
          <a:xfrm>
            <a:off x="5394960" y="3300984"/>
            <a:ext cx="3383280" cy="594360"/>
          </a:xfrm>
          <a:prstGeom prst="roundRect">
            <a:avLst>
              <a:gd name="adj" fmla="val 12308"/>
            </a:avLst>
          </a:prstGeom>
          <a:solidFill>
            <a:srgbClr val="FFFFFF"/>
          </a:solidFill>
          <a:ln w="12700">
            <a:solidFill>
              <a:srgbClr val="BFE3EE"/>
            </a:solidFill>
            <a:prstDash val="solid"/>
          </a:ln>
        </p:spPr>
      </p:sp>
      <p:sp>
        <p:nvSpPr>
          <p:cNvPr id="25" name="Shape 19"/>
          <p:cNvSpPr/>
          <p:nvPr/>
        </p:nvSpPr>
        <p:spPr>
          <a:xfrm>
            <a:off x="5486400" y="3374136"/>
            <a:ext cx="457200" cy="457200"/>
          </a:xfrm>
          <a:prstGeom prst="ellipse">
            <a:avLst/>
          </a:prstGeom>
          <a:solidFill>
            <a:srgbClr val="12305C"/>
          </a:solidFill>
          <a:ln w="12700">
            <a:solidFill>
              <a:srgbClr val="12305C"/>
            </a:solidFill>
            <a:prstDash val="solid"/>
          </a:ln>
        </p:spPr>
      </p:sp>
      <p:pic>
        <p:nvPicPr>
          <p:cNvPr id="26" name="Image 3" descr="preencoded.png">    </p:cNvPr>
          <p:cNvPicPr>
            <a:picLocks noChangeAspect="1"/>
          </p:cNvPicPr>
          <p:nvPr/>
        </p:nvPicPr>
        <p:blipFill>
          <a:blip r:embed="rId4"/>
          <a:stretch>
            <a:fillRect/>
          </a:stretch>
        </p:blipFill>
        <p:spPr>
          <a:xfrm>
            <a:off x="5596128" y="3483864"/>
            <a:ext cx="237744" cy="237744"/>
          </a:xfrm>
          <a:prstGeom prst="rect">
            <a:avLst/>
          </a:prstGeom>
        </p:spPr>
      </p:pic>
      <p:sp>
        <p:nvSpPr>
          <p:cNvPr id="27" name="Text 20"/>
          <p:cNvSpPr txBox="1"/>
          <p:nvPr/>
        </p:nvSpPr>
        <p:spPr>
          <a:xfrm>
            <a:off x="6080760" y="3300984"/>
            <a:ext cx="2651760" cy="5943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Database interaction</a:t>
            </a:r>
            <a:endParaRPr lang="en-US" sz="1100" dirty="0"/>
          </a:p>
        </p:txBody>
      </p:sp>
      <p:sp>
        <p:nvSpPr>
          <p:cNvPr id="28" name="Shape 21"/>
          <p:cNvSpPr/>
          <p:nvPr/>
        </p:nvSpPr>
        <p:spPr>
          <a:xfrm>
            <a:off x="5394960" y="4005072"/>
            <a:ext cx="3383280" cy="594360"/>
          </a:xfrm>
          <a:prstGeom prst="roundRect">
            <a:avLst>
              <a:gd name="adj" fmla="val 12308"/>
            </a:avLst>
          </a:prstGeom>
          <a:solidFill>
            <a:srgbClr val="FFFFFF"/>
          </a:solidFill>
          <a:ln w="12700">
            <a:solidFill>
              <a:srgbClr val="BFE3EE"/>
            </a:solidFill>
            <a:prstDash val="solid"/>
          </a:ln>
        </p:spPr>
      </p:sp>
      <p:sp>
        <p:nvSpPr>
          <p:cNvPr id="29" name="Shape 22"/>
          <p:cNvSpPr/>
          <p:nvPr/>
        </p:nvSpPr>
        <p:spPr>
          <a:xfrm>
            <a:off x="5486400" y="4078224"/>
            <a:ext cx="457200" cy="457200"/>
          </a:xfrm>
          <a:prstGeom prst="ellipse">
            <a:avLst/>
          </a:prstGeom>
          <a:solidFill>
            <a:srgbClr val="12305C"/>
          </a:solidFill>
          <a:ln w="12700">
            <a:solidFill>
              <a:srgbClr val="12305C"/>
            </a:solidFill>
            <a:prstDash val="solid"/>
          </a:ln>
        </p:spPr>
      </p:sp>
      <p:pic>
        <p:nvPicPr>
          <p:cNvPr id="30" name="Image 4" descr="preencoded.png">    </p:cNvPr>
          <p:cNvPicPr>
            <a:picLocks noChangeAspect="1"/>
          </p:cNvPicPr>
          <p:nvPr/>
        </p:nvPicPr>
        <p:blipFill>
          <a:blip r:embed="rId5"/>
          <a:stretch>
            <a:fillRect/>
          </a:stretch>
        </p:blipFill>
        <p:spPr>
          <a:xfrm>
            <a:off x="5596128" y="4187952"/>
            <a:ext cx="237744" cy="237744"/>
          </a:xfrm>
          <a:prstGeom prst="rect">
            <a:avLst/>
          </a:prstGeom>
        </p:spPr>
      </p:pic>
      <p:sp>
        <p:nvSpPr>
          <p:cNvPr id="31" name="Text 23"/>
          <p:cNvSpPr txBox="1"/>
          <p:nvPr/>
        </p:nvSpPr>
        <p:spPr>
          <a:xfrm>
            <a:off x="6080760" y="4005072"/>
            <a:ext cx="2651760" cy="594360"/>
          </a:xfrm>
          <a:prstGeom prst="rect">
            <a:avLst/>
          </a:prstGeom>
          <a:noFill/>
          <a:ln/>
        </p:spPr>
        <p:txBody>
          <a:bodyPr wrap="square" lIns="635" tIns="635" rIns="635" bIns="635"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Software testing and implementation</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Problem Statement and Project Objectives</a:t>
            </a:r>
            <a:endParaRPr lang="en-US" sz="2200" dirty="0"/>
          </a:p>
        </p:txBody>
      </p:sp>
      <p:sp>
        <p:nvSpPr>
          <p:cNvPr id="4" name="Shape 1"/>
          <p:cNvSpPr/>
          <p:nvPr/>
        </p:nvSpPr>
        <p:spPr>
          <a:xfrm>
            <a:off x="365760" y="914400"/>
            <a:ext cx="4114800" cy="3794760"/>
          </a:xfrm>
          <a:prstGeom prst="rect">
            <a:avLst/>
          </a:prstGeom>
          <a:solidFill>
            <a:srgbClr val="FFFFFF"/>
          </a:solidFill>
          <a:ln w="12700">
            <a:solidFill>
              <a:srgbClr val="BFE3EE"/>
            </a:solidFill>
            <a:prstDash val="solid"/>
          </a:ln>
        </p:spPr>
      </p:sp>
      <p:sp>
        <p:nvSpPr>
          <p:cNvPr id="5" name="Shape 2"/>
          <p:cNvSpPr/>
          <p:nvPr/>
        </p:nvSpPr>
        <p:spPr>
          <a:xfrm>
            <a:off x="365760" y="914400"/>
            <a:ext cx="4114800" cy="274320"/>
          </a:xfrm>
          <a:prstGeom prst="rect">
            <a:avLst/>
          </a:prstGeom>
          <a:solidFill>
            <a:srgbClr val="C0392B"/>
          </a:solidFill>
          <a:ln w="12700">
            <a:solidFill>
              <a:srgbClr val="C0392B"/>
            </a:solidFill>
            <a:prstDash val="solid"/>
          </a:ln>
        </p:spPr>
      </p:sp>
      <p:sp>
        <p:nvSpPr>
          <p:cNvPr id="6" name="Text 3"/>
          <p:cNvSpPr txBox="1"/>
          <p:nvPr/>
        </p:nvSpPr>
        <p:spPr>
          <a:xfrm>
            <a:off x="411480" y="914400"/>
            <a:ext cx="40233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Problem Statement</a:t>
            </a:r>
            <a:endParaRPr lang="en-US" sz="1100" dirty="0"/>
          </a:p>
        </p:txBody>
      </p:sp>
      <p:sp>
        <p:nvSpPr>
          <p:cNvPr id="7" name="Text 4"/>
          <p:cNvSpPr txBox="1"/>
          <p:nvPr/>
        </p:nvSpPr>
        <p:spPr>
          <a:xfrm>
            <a:off x="411480" y="1234440"/>
            <a:ext cx="4023360" cy="3429000"/>
          </a:xfrm>
          <a:prstGeom prst="rect">
            <a:avLst/>
          </a:prstGeom>
          <a:noFill/>
          <a:ln/>
        </p:spPr>
        <p:txBody>
          <a:bodyPr wrap="square" lIns="635" tIns="635" rIns="635" bIns="635" rtlCol="0" anchor="t"/>
          <a:lstStyle/>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Human agents must repeatedly answer similar questions.</a:t>
            </a:r>
            <a:endParaRPr lang="en-US" sz="1100" dirty="0"/>
          </a:p>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Customers may experience long waiting times.</a:t>
            </a:r>
            <a:endParaRPr lang="en-US" sz="1100" dirty="0"/>
          </a:p>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Support availability may be limited to working hours.</a:t>
            </a:r>
            <a:endParaRPr lang="en-US" sz="1100" dirty="0"/>
          </a:p>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Responses may vary depending on the agent.</a:t>
            </a:r>
            <a:endParaRPr lang="en-US" sz="1100" dirty="0"/>
          </a:p>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Handling a large number of requests increases operational workload.</a:t>
            </a:r>
            <a:endParaRPr lang="en-US" sz="1100" dirty="0"/>
          </a:p>
          <a:p>
            <a:pPr marL="127000" indent="-127000">
              <a:spcAft>
                <a:spcPts val="600"/>
              </a:spcAft>
              <a:buSzPct val="100000"/>
              <a:buChar char="•"/>
            </a:pPr>
            <a:r>
              <a:rPr lang="en-US" sz="1100" dirty="0">
                <a:solidFill>
                  <a:srgbClr val="1F2A3C"/>
                </a:solidFill>
                <a:latin typeface="Calibri" pitchFamily="34" charset="0"/>
                <a:ea typeface="Calibri" pitchFamily="34" charset="-122"/>
                <a:cs typeface="Calibri" pitchFamily="34" charset="-120"/>
              </a:rPr>
              <a:t>Tracking conversations and evaluating support performance is difficult without a centralized system.</a:t>
            </a:r>
            <a:endParaRPr lang="en-US" sz="1100" dirty="0"/>
          </a:p>
        </p:txBody>
      </p:sp>
      <p:sp>
        <p:nvSpPr>
          <p:cNvPr id="8" name="Shape 5"/>
          <p:cNvSpPr/>
          <p:nvPr/>
        </p:nvSpPr>
        <p:spPr>
          <a:xfrm>
            <a:off x="4663440" y="914400"/>
            <a:ext cx="4114800" cy="3794760"/>
          </a:xfrm>
          <a:prstGeom prst="rect">
            <a:avLst/>
          </a:prstGeom>
          <a:solidFill>
            <a:srgbClr val="FFFFFF"/>
          </a:solidFill>
          <a:ln w="12700">
            <a:solidFill>
              <a:srgbClr val="BFE3EE"/>
            </a:solidFill>
            <a:prstDash val="solid"/>
          </a:ln>
        </p:spPr>
      </p:sp>
      <p:sp>
        <p:nvSpPr>
          <p:cNvPr id="9" name="Shape 6"/>
          <p:cNvSpPr/>
          <p:nvPr/>
        </p:nvSpPr>
        <p:spPr>
          <a:xfrm>
            <a:off x="4663440" y="914400"/>
            <a:ext cx="4114800" cy="274320"/>
          </a:xfrm>
          <a:prstGeom prst="rect">
            <a:avLst/>
          </a:prstGeom>
          <a:solidFill>
            <a:srgbClr val="0E7C86"/>
          </a:solidFill>
          <a:ln w="12700">
            <a:solidFill>
              <a:srgbClr val="0E7C86"/>
            </a:solidFill>
            <a:prstDash val="solid"/>
          </a:ln>
        </p:spPr>
      </p:sp>
      <p:sp>
        <p:nvSpPr>
          <p:cNvPr id="10" name="Text 7"/>
          <p:cNvSpPr txBox="1"/>
          <p:nvPr/>
        </p:nvSpPr>
        <p:spPr>
          <a:xfrm>
            <a:off x="4709160" y="914400"/>
            <a:ext cx="40233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Project Objectives</a:t>
            </a:r>
            <a:endParaRPr lang="en-US" sz="1100" dirty="0"/>
          </a:p>
        </p:txBody>
      </p:sp>
      <p:sp>
        <p:nvSpPr>
          <p:cNvPr id="11" name="Text 8"/>
          <p:cNvSpPr txBox="1"/>
          <p:nvPr/>
        </p:nvSpPr>
        <p:spPr>
          <a:xfrm>
            <a:off x="4709160" y="1234440"/>
            <a:ext cx="4023360" cy="3429000"/>
          </a:xfrm>
          <a:prstGeom prst="rect">
            <a:avLst/>
          </a:prstGeom>
          <a:noFill/>
          <a:ln/>
        </p:spPr>
        <p:txBody>
          <a:bodyPr wrap="square" lIns="635" tIns="635" rIns="635" bIns="635" rtlCol="0" anchor="t"/>
          <a:lstStyle/>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Develop an AI-powered customer support chatbot.</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Automate responses to frequently asked questions.</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Use NLP techniques to preprocess customer messages.</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Apply machine learning to identify customer query intents.</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Generate appropriate responses based on the detected intent.</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Maintain conversation records for future reference.</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Provide an option to escalate complex or uncertain queries to human support.</a:t>
            </a:r>
            <a:endParaRPr lang="en-US" sz="1050" dirty="0"/>
          </a:p>
          <a:p>
            <a:pPr marL="127000" indent="-127000">
              <a:spcAft>
                <a:spcPts val="400"/>
              </a:spcAft>
              <a:buSzPct val="100000"/>
              <a:buChar char="•"/>
            </a:pPr>
            <a:r>
              <a:rPr lang="en-US" sz="1050" dirty="0">
                <a:solidFill>
                  <a:srgbClr val="1F2A3C"/>
                </a:solidFill>
                <a:latin typeface="Calibri" pitchFamily="34" charset="0"/>
                <a:ea typeface="Calibri" pitchFamily="34" charset="-122"/>
                <a:cs typeface="Calibri" pitchFamily="34" charset="-120"/>
              </a:rPr>
              <a:t>Support administrative management of conversations and chatbot information.</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Existing System vs Proposed System</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1828800"/>
                <a:gridCol w="2834640"/>
                <a:gridCol w="3749040"/>
              </a:tblGrid>
              <a:tr h="320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230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Existing System</a:t>
                      </a:r>
                      <a:endParaRPr lang="en-US" sz="11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C039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Proposed System</a:t>
                      </a:r>
                      <a:endParaRPr lang="en-US" sz="11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0E7C86"/>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Query handling</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Handled mainly by human agents</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Chatbot handles supported queries automatically using NLP and ML intent classification</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Customers may wait for an available agent</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Automated responses aim to improve response speed for common queries</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Availability</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May be restricted to business hours</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Web-based chatbot interface answers supported queries without waiting for an agent</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Repetitive workload</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Repeated questions consume employees' time</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Common questions are answered automatically, reducing repetitive work</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Response consistency</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Can vary from agent to agent</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Response is selected per detected intent, aiming for consistency</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Conversation management</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Tracking and analysis may need manual effort</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Conversations stored; admin interface supports review and maintenance</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r h="475488">
                <a:tc>
                  <a:txBody>
                    <a:bodyPr/>
                    <a:lstStyle/>
                    <a:p>
                      <a:pPr indent="0" marL="0">
                        <a:buNone/>
                      </a:pPr>
                      <a:r>
                        <a:rPr lang="en-US" sz="1000" b="1" dirty="0">
                          <a:solidFill>
                            <a:srgbClr val="12305C"/>
                          </a:solidFill>
                          <a:latin typeface="Calibri" pitchFamily="34" charset="0"/>
                          <a:ea typeface="Calibri" pitchFamily="34" charset="-122"/>
                          <a:cs typeface="Calibri" pitchFamily="34" charset="-120"/>
                        </a:rPr>
                        <a:t>Complex-query handling</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Needs additional resources for large volumes</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FFF3F0"/>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  Uncertain or complex queries get a fallback response or human escalation</a:t>
                      </a:r>
                      <a:endParaRPr lang="en-US" sz="100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6F7F1"/>
                    </a:solidFill>
                  </a:tcPr>
                </a:tc>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Technologies and Tools Used</a:t>
            </a:r>
            <a:endParaRPr lang="en-US" sz="2200" dirty="0"/>
          </a:p>
        </p:txBody>
      </p:sp>
      <p:sp>
        <p:nvSpPr>
          <p:cNvPr id="4" name="Shape 1"/>
          <p:cNvSpPr/>
          <p:nvPr/>
        </p:nvSpPr>
        <p:spPr>
          <a:xfrm>
            <a:off x="365760" y="914400"/>
            <a:ext cx="4114800" cy="2103120"/>
          </a:xfrm>
          <a:prstGeom prst="rect">
            <a:avLst/>
          </a:prstGeom>
          <a:solidFill>
            <a:srgbClr val="FFFFFF"/>
          </a:solidFill>
          <a:ln w="12700">
            <a:solidFill>
              <a:srgbClr val="BFE3EE"/>
            </a:solidFill>
            <a:prstDash val="solid"/>
          </a:ln>
        </p:spPr>
      </p:sp>
      <p:sp>
        <p:nvSpPr>
          <p:cNvPr id="5" name="Shape 2"/>
          <p:cNvSpPr/>
          <p:nvPr/>
        </p:nvSpPr>
        <p:spPr>
          <a:xfrm>
            <a:off x="365760" y="914400"/>
            <a:ext cx="4114800" cy="274320"/>
          </a:xfrm>
          <a:prstGeom prst="rect">
            <a:avLst/>
          </a:prstGeom>
          <a:solidFill>
            <a:srgbClr val="12305C"/>
          </a:solidFill>
          <a:ln w="12700">
            <a:solidFill>
              <a:srgbClr val="12305C"/>
            </a:solidFill>
            <a:prstDash val="solid"/>
          </a:ln>
        </p:spPr>
      </p:sp>
      <p:sp>
        <p:nvSpPr>
          <p:cNvPr id="6" name="Text 3"/>
          <p:cNvSpPr txBox="1"/>
          <p:nvPr/>
        </p:nvSpPr>
        <p:spPr>
          <a:xfrm>
            <a:off x="411480" y="914400"/>
            <a:ext cx="40233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 Technologies</a:t>
            </a:r>
            <a:endParaRPr lang="en-US" sz="1100" dirty="0"/>
          </a:p>
        </p:txBody>
      </p:sp>
      <p:sp>
        <p:nvSpPr>
          <p:cNvPr id="7" name="Text 4"/>
          <p:cNvSpPr txBox="1"/>
          <p:nvPr/>
        </p:nvSpPr>
        <p:spPr>
          <a:xfrm>
            <a:off x="411480" y="1234440"/>
            <a:ext cx="4023360" cy="1737360"/>
          </a:xfrm>
          <a:prstGeom prst="rect">
            <a:avLst/>
          </a:prstGeom>
          <a:noFill/>
          <a:ln/>
        </p:spPr>
        <p:txBody>
          <a:bodyPr wrap="square" lIns="635" tIns="635" rIns="635" bIns="635" rtlCol="0" anchor="t"/>
          <a:lstStyle/>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HTML — </a:t>
            </a:r>
            <a:pPr indent="0" marL="0">
              <a:buNone/>
            </a:pPr>
            <a:r>
              <a:rPr lang="en-US" sz="950" dirty="0">
                <a:solidFill>
                  <a:srgbClr val="1F2A3C"/>
                </a:solidFill>
                <a:latin typeface="Calibri" pitchFamily="34" charset="0"/>
                <a:ea typeface="Calibri" pitchFamily="34" charset="-122"/>
                <a:cs typeface="Calibri" pitchFamily="34" charset="-120"/>
              </a:rPr>
              <a:t>structures the chatbot page and interface elements.</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CSS — </a:t>
            </a:r>
            <a:pPr indent="0" marL="0">
              <a:buNone/>
            </a:pPr>
            <a:r>
              <a:rPr lang="en-US" sz="950" dirty="0">
                <a:solidFill>
                  <a:srgbClr val="1F2A3C"/>
                </a:solidFill>
                <a:latin typeface="Calibri" pitchFamily="34" charset="0"/>
                <a:ea typeface="Calibri" pitchFamily="34" charset="-122"/>
                <a:cs typeface="Calibri" pitchFamily="34" charset="-120"/>
              </a:rPr>
              <a:t>controls appearance, layout, spacing and styling.</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JavaScript — </a:t>
            </a:r>
            <a:pPr indent="0" marL="0">
              <a:buNone/>
            </a:pPr>
            <a:r>
              <a:rPr lang="en-US" sz="950" dirty="0">
                <a:solidFill>
                  <a:srgbClr val="1F2A3C"/>
                </a:solidFill>
                <a:latin typeface="Calibri" pitchFamily="34" charset="0"/>
                <a:ea typeface="Calibri" pitchFamily="34" charset="-122"/>
                <a:cs typeface="Calibri" pitchFamily="34" charset="-120"/>
              </a:rPr>
              <a:t>adds interactivity and talks to backend endpoints.</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Bootstrap — </a:t>
            </a:r>
            <a:pPr indent="0" marL="0">
              <a:buNone/>
            </a:pPr>
            <a:r>
              <a:rPr lang="en-US" sz="950" dirty="0">
                <a:solidFill>
                  <a:srgbClr val="1F2A3C"/>
                </a:solidFill>
                <a:latin typeface="Calibri" pitchFamily="34" charset="0"/>
                <a:ea typeface="Calibri" pitchFamily="34" charset="-122"/>
                <a:cs typeface="Calibri" pitchFamily="34" charset="-120"/>
              </a:rPr>
              <a:t>responsive interface for different screen sizes.</a:t>
            </a:r>
            <a:endParaRPr lang="en-US" sz="950" dirty="0"/>
          </a:p>
        </p:txBody>
      </p:sp>
      <p:sp>
        <p:nvSpPr>
          <p:cNvPr id="8" name="Shape 5"/>
          <p:cNvSpPr/>
          <p:nvPr/>
        </p:nvSpPr>
        <p:spPr>
          <a:xfrm>
            <a:off x="4663440" y="914400"/>
            <a:ext cx="4114800" cy="2103120"/>
          </a:xfrm>
          <a:prstGeom prst="rect">
            <a:avLst/>
          </a:prstGeom>
          <a:solidFill>
            <a:srgbClr val="FFFFFF"/>
          </a:solidFill>
          <a:ln w="12700">
            <a:solidFill>
              <a:srgbClr val="BFE3EE"/>
            </a:solidFill>
            <a:prstDash val="solid"/>
          </a:ln>
        </p:spPr>
      </p:sp>
      <p:sp>
        <p:nvSpPr>
          <p:cNvPr id="9" name="Shape 6"/>
          <p:cNvSpPr/>
          <p:nvPr/>
        </p:nvSpPr>
        <p:spPr>
          <a:xfrm>
            <a:off x="4663440" y="914400"/>
            <a:ext cx="4114800" cy="274320"/>
          </a:xfrm>
          <a:prstGeom prst="rect">
            <a:avLst/>
          </a:prstGeom>
          <a:solidFill>
            <a:srgbClr val="0E7C86"/>
          </a:solidFill>
          <a:ln w="12700">
            <a:solidFill>
              <a:srgbClr val="0E7C86"/>
            </a:solidFill>
            <a:prstDash val="solid"/>
          </a:ln>
        </p:spPr>
      </p:sp>
      <p:sp>
        <p:nvSpPr>
          <p:cNvPr id="10" name="Text 7"/>
          <p:cNvSpPr txBox="1"/>
          <p:nvPr/>
        </p:nvSpPr>
        <p:spPr>
          <a:xfrm>
            <a:off x="4709160" y="914400"/>
            <a:ext cx="40233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and Machine Learning</a:t>
            </a:r>
            <a:endParaRPr lang="en-US" sz="1100" dirty="0"/>
          </a:p>
        </p:txBody>
      </p:sp>
      <p:sp>
        <p:nvSpPr>
          <p:cNvPr id="11" name="Text 8"/>
          <p:cNvSpPr txBox="1"/>
          <p:nvPr/>
        </p:nvSpPr>
        <p:spPr>
          <a:xfrm>
            <a:off x="4709160" y="1234440"/>
            <a:ext cx="4023360" cy="1737360"/>
          </a:xfrm>
          <a:prstGeom prst="rect">
            <a:avLst/>
          </a:prstGeom>
          <a:noFill/>
          <a:ln/>
        </p:spPr>
        <p:txBody>
          <a:bodyPr wrap="square" lIns="635" tIns="635" rIns="635" bIns="635" rtlCol="0" anchor="t"/>
          <a:lstStyle/>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NLP — </a:t>
            </a:r>
            <a:pPr indent="0" marL="0">
              <a:buNone/>
            </a:pPr>
            <a:r>
              <a:rPr lang="en-US" sz="950" dirty="0">
                <a:solidFill>
                  <a:srgbClr val="1F2A3C"/>
                </a:solidFill>
                <a:latin typeface="Calibri" pitchFamily="34" charset="0"/>
                <a:ea typeface="Calibri" pitchFamily="34" charset="-122"/>
                <a:cs typeface="Calibri" pitchFamily="34" charset="-120"/>
              </a:rPr>
              <a:t>processes messages and prepares text for classification.</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NLTK — </a:t>
            </a:r>
            <a:pPr indent="0" marL="0">
              <a:buNone/>
            </a:pPr>
            <a:r>
              <a:rPr lang="en-US" sz="950" dirty="0">
                <a:solidFill>
                  <a:srgbClr val="1F2A3C"/>
                </a:solidFill>
                <a:latin typeface="Calibri" pitchFamily="34" charset="0"/>
                <a:ea typeface="Calibri" pitchFamily="34" charset="-122"/>
                <a:cs typeface="Calibri" pitchFamily="34" charset="-120"/>
              </a:rPr>
              <a:t>tokenization, stop-word removal, lemmatization.</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TF-IDF — </a:t>
            </a:r>
            <a:pPr indent="0" marL="0">
              <a:buNone/>
            </a:pPr>
            <a:r>
              <a:rPr lang="en-US" sz="950" dirty="0">
                <a:solidFill>
                  <a:srgbClr val="1F2A3C"/>
                </a:solidFill>
                <a:latin typeface="Calibri" pitchFamily="34" charset="0"/>
                <a:ea typeface="Calibri" pitchFamily="34" charset="-122"/>
                <a:cs typeface="Calibri" pitchFamily="34" charset="-120"/>
              </a:rPr>
              <a:t>converts text into numerical features.</a:t>
            </a:r>
            <a:endParaRPr lang="en-US" sz="950" dirty="0"/>
          </a:p>
          <a:p>
            <a:pPr marL="127000" indent="-127000">
              <a:spcAft>
                <a:spcPts val="400"/>
              </a:spcAft>
              <a:buSzPct val="100000"/>
              <a:buChar char="•"/>
            </a:pPr>
            <a:r>
              <a:rPr lang="en-US" sz="950" b="1" dirty="0">
                <a:solidFill>
                  <a:srgbClr val="1F2A3C"/>
                </a:solidFill>
                <a:latin typeface="Calibri" pitchFamily="34" charset="0"/>
                <a:ea typeface="Calibri" pitchFamily="34" charset="-122"/>
                <a:cs typeface="Calibri" pitchFamily="34" charset="-120"/>
              </a:rPr>
              <a:t>Scikit-learn — </a:t>
            </a:r>
            <a:pPr indent="0" marL="0">
              <a:buNone/>
            </a:pPr>
            <a:r>
              <a:rPr lang="en-US" sz="950" dirty="0">
                <a:solidFill>
                  <a:srgbClr val="1F2A3C"/>
                </a:solidFill>
                <a:latin typeface="Calibri" pitchFamily="34" charset="0"/>
                <a:ea typeface="Calibri" pitchFamily="34" charset="-122"/>
                <a:cs typeface="Calibri" pitchFamily="34" charset="-120"/>
              </a:rPr>
              <a:t>intent classification, e.g. Logistic Regression and SVM where applicable.</a:t>
            </a:r>
            <a:endParaRPr lang="en-US" sz="950" dirty="0"/>
          </a:p>
        </p:txBody>
      </p:sp>
      <p:sp>
        <p:nvSpPr>
          <p:cNvPr id="12" name="Shape 9"/>
          <p:cNvSpPr/>
          <p:nvPr/>
        </p:nvSpPr>
        <p:spPr>
          <a:xfrm>
            <a:off x="365760" y="3154680"/>
            <a:ext cx="2743200" cy="1417320"/>
          </a:xfrm>
          <a:prstGeom prst="rect">
            <a:avLst/>
          </a:prstGeom>
          <a:solidFill>
            <a:srgbClr val="FFFFFF"/>
          </a:solidFill>
          <a:ln w="12700">
            <a:solidFill>
              <a:srgbClr val="BFE3EE"/>
            </a:solidFill>
            <a:prstDash val="solid"/>
          </a:ln>
        </p:spPr>
      </p:sp>
      <p:sp>
        <p:nvSpPr>
          <p:cNvPr id="13" name="Shape 10"/>
          <p:cNvSpPr/>
          <p:nvPr/>
        </p:nvSpPr>
        <p:spPr>
          <a:xfrm>
            <a:off x="365760" y="3154680"/>
            <a:ext cx="2743200" cy="274320"/>
          </a:xfrm>
          <a:prstGeom prst="rect">
            <a:avLst/>
          </a:prstGeom>
          <a:solidFill>
            <a:srgbClr val="0B1F3A"/>
          </a:solidFill>
          <a:ln w="12700">
            <a:solidFill>
              <a:srgbClr val="0B1F3A"/>
            </a:solidFill>
            <a:prstDash val="solid"/>
          </a:ln>
        </p:spPr>
      </p:sp>
      <p:sp>
        <p:nvSpPr>
          <p:cNvPr id="14" name="Text 11"/>
          <p:cNvSpPr txBox="1"/>
          <p:nvPr/>
        </p:nvSpPr>
        <p:spPr>
          <a:xfrm>
            <a:off x="411480" y="3154680"/>
            <a:ext cx="26517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15" name="Text 12"/>
          <p:cNvSpPr txBox="1"/>
          <p:nvPr/>
        </p:nvSpPr>
        <p:spPr>
          <a:xfrm>
            <a:off x="411480" y="3474720"/>
            <a:ext cx="2651760" cy="1051560"/>
          </a:xfrm>
          <a:prstGeom prst="rect">
            <a:avLst/>
          </a:prstGeom>
          <a:noFill/>
          <a:ln/>
        </p:spPr>
        <p:txBody>
          <a:bodyPr wrap="square" lIns="635" tIns="635" rIns="635" bIns="635" rtlCol="0" anchor="t"/>
          <a:lstStyle/>
          <a:p>
            <a:pPr marL="127000" indent="-127000">
              <a:spcAft>
                <a:spcPts val="300"/>
              </a:spcAft>
              <a:buSzPct val="100000"/>
              <a:buChar char="•"/>
            </a:pPr>
            <a:r>
              <a:rPr lang="en-US" sz="950" b="1" dirty="0">
                <a:solidFill>
                  <a:srgbClr val="1F2A3C"/>
                </a:solidFill>
                <a:latin typeface="Calibri" pitchFamily="34" charset="0"/>
                <a:ea typeface="Calibri" pitchFamily="34" charset="-122"/>
                <a:cs typeface="Calibri" pitchFamily="34" charset="-120"/>
              </a:rPr>
              <a:t>Python — </a:t>
            </a:r>
            <a:pPr indent="0" marL="0">
              <a:buNone/>
            </a:pPr>
            <a:r>
              <a:rPr lang="en-US" sz="950" dirty="0">
                <a:solidFill>
                  <a:srgbClr val="1F2A3C"/>
                </a:solidFill>
                <a:latin typeface="Calibri" pitchFamily="34" charset="0"/>
                <a:ea typeface="Calibri" pitchFamily="34" charset="-122"/>
                <a:cs typeface="Calibri" pitchFamily="34" charset="-120"/>
              </a:rPr>
              <a:t>main logic, NLP and ML integration.</a:t>
            </a:r>
            <a:endParaRPr lang="en-US" sz="950" dirty="0"/>
          </a:p>
          <a:p>
            <a:pPr marL="127000" indent="-127000">
              <a:spcAft>
                <a:spcPts val="300"/>
              </a:spcAft>
              <a:buSzPct val="100000"/>
              <a:buChar char="•"/>
            </a:pPr>
            <a:r>
              <a:rPr lang="en-US" sz="950" b="1" dirty="0">
                <a:solidFill>
                  <a:srgbClr val="1F2A3C"/>
                </a:solidFill>
                <a:latin typeface="Calibri" pitchFamily="34" charset="0"/>
                <a:ea typeface="Calibri" pitchFamily="34" charset="-122"/>
                <a:cs typeface="Calibri" pitchFamily="34" charset="-120"/>
              </a:rPr>
              <a:t>Flask — </a:t>
            </a:r>
            <a:pPr indent="0" marL="0">
              <a:buNone/>
            </a:pPr>
            <a:r>
              <a:rPr lang="en-US" sz="950" dirty="0">
                <a:solidFill>
                  <a:srgbClr val="1F2A3C"/>
                </a:solidFill>
                <a:latin typeface="Calibri" pitchFamily="34" charset="0"/>
                <a:ea typeface="Calibri" pitchFamily="34" charset="-122"/>
                <a:cs typeface="Calibri" pitchFamily="34" charset="-120"/>
              </a:rPr>
              <a:t>web framework handling requests between UI and chatbot logic.</a:t>
            </a:r>
            <a:endParaRPr lang="en-US" sz="950" dirty="0"/>
          </a:p>
        </p:txBody>
      </p:sp>
      <p:sp>
        <p:nvSpPr>
          <p:cNvPr id="16" name="Shape 13"/>
          <p:cNvSpPr/>
          <p:nvPr/>
        </p:nvSpPr>
        <p:spPr>
          <a:xfrm>
            <a:off x="3291840" y="3154680"/>
            <a:ext cx="2743200" cy="1417320"/>
          </a:xfrm>
          <a:prstGeom prst="rect">
            <a:avLst/>
          </a:prstGeom>
          <a:solidFill>
            <a:srgbClr val="FFFFFF"/>
          </a:solidFill>
          <a:ln w="12700">
            <a:solidFill>
              <a:srgbClr val="BFE3EE"/>
            </a:solidFill>
            <a:prstDash val="solid"/>
          </a:ln>
        </p:spPr>
      </p:sp>
      <p:sp>
        <p:nvSpPr>
          <p:cNvPr id="17" name="Shape 14"/>
          <p:cNvSpPr/>
          <p:nvPr/>
        </p:nvSpPr>
        <p:spPr>
          <a:xfrm>
            <a:off x="3291840" y="3154680"/>
            <a:ext cx="2743200" cy="274320"/>
          </a:xfrm>
          <a:prstGeom prst="rect">
            <a:avLst/>
          </a:prstGeom>
          <a:solidFill>
            <a:srgbClr val="5B6B82"/>
          </a:solidFill>
          <a:ln w="12700">
            <a:solidFill>
              <a:srgbClr val="5B6B82"/>
            </a:solidFill>
            <a:prstDash val="solid"/>
          </a:ln>
        </p:spPr>
      </p:sp>
      <p:sp>
        <p:nvSpPr>
          <p:cNvPr id="18" name="Text 15"/>
          <p:cNvSpPr txBox="1"/>
          <p:nvPr/>
        </p:nvSpPr>
        <p:spPr>
          <a:xfrm>
            <a:off x="3337560" y="3154680"/>
            <a:ext cx="26517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Database</a:t>
            </a:r>
            <a:endParaRPr lang="en-US" sz="1100" dirty="0"/>
          </a:p>
        </p:txBody>
      </p:sp>
      <p:sp>
        <p:nvSpPr>
          <p:cNvPr id="19" name="Text 16"/>
          <p:cNvSpPr txBox="1"/>
          <p:nvPr/>
        </p:nvSpPr>
        <p:spPr>
          <a:xfrm>
            <a:off x="3337560" y="3474720"/>
            <a:ext cx="2651760" cy="1051560"/>
          </a:xfrm>
          <a:prstGeom prst="rect">
            <a:avLst/>
          </a:prstGeom>
          <a:noFill/>
          <a:ln/>
        </p:spPr>
        <p:txBody>
          <a:bodyPr wrap="square" lIns="635" tIns="635" rIns="635" bIns="635" rtlCol="0" anchor="t"/>
          <a:lstStyle/>
          <a:p>
            <a:pPr marL="127000" indent="-127000">
              <a:spcAft>
                <a:spcPts val="300"/>
              </a:spcAft>
              <a:buSzPct val="100000"/>
              <a:buChar char="•"/>
            </a:pPr>
            <a:r>
              <a:rPr lang="en-US" sz="950" b="1" dirty="0">
                <a:solidFill>
                  <a:srgbClr val="1F2A3C"/>
                </a:solidFill>
                <a:latin typeface="Calibri" pitchFamily="34" charset="0"/>
                <a:ea typeface="Calibri" pitchFamily="34" charset="-122"/>
                <a:cs typeface="Calibri" pitchFamily="34" charset="-120"/>
              </a:rPr>
              <a:t>MySQL / SQLite — </a:t>
            </a:r>
            <a:pPr indent="0" marL="0">
              <a:buNone/>
            </a:pPr>
            <a:r>
              <a:rPr lang="en-US" sz="950" dirty="0">
                <a:solidFill>
                  <a:srgbClr val="1F2A3C"/>
                </a:solidFill>
                <a:latin typeface="Calibri" pitchFamily="34" charset="0"/>
                <a:ea typeface="Calibri" pitchFamily="34" charset="-122"/>
                <a:cs typeface="Calibri" pitchFamily="34" charset="-120"/>
              </a:rPr>
              <a:t>stores conversation records and intent-related data, per implementation.</a:t>
            </a:r>
            <a:endParaRPr lang="en-US" sz="950" dirty="0"/>
          </a:p>
        </p:txBody>
      </p:sp>
      <p:sp>
        <p:nvSpPr>
          <p:cNvPr id="20" name="Shape 17"/>
          <p:cNvSpPr/>
          <p:nvPr/>
        </p:nvSpPr>
        <p:spPr>
          <a:xfrm>
            <a:off x="6217920" y="3154680"/>
            <a:ext cx="2560320" cy="1417320"/>
          </a:xfrm>
          <a:prstGeom prst="rect">
            <a:avLst/>
          </a:prstGeom>
          <a:solidFill>
            <a:srgbClr val="FFFFFF"/>
          </a:solidFill>
          <a:ln w="12700">
            <a:solidFill>
              <a:srgbClr val="BFE3EE"/>
            </a:solidFill>
            <a:prstDash val="solid"/>
          </a:ln>
        </p:spPr>
      </p:sp>
      <p:sp>
        <p:nvSpPr>
          <p:cNvPr id="21" name="Shape 18"/>
          <p:cNvSpPr/>
          <p:nvPr/>
        </p:nvSpPr>
        <p:spPr>
          <a:xfrm>
            <a:off x="6217920" y="3154680"/>
            <a:ext cx="2560320" cy="274320"/>
          </a:xfrm>
          <a:prstGeom prst="rect">
            <a:avLst/>
          </a:prstGeom>
          <a:solidFill>
            <a:srgbClr val="00A5C7"/>
          </a:solidFill>
          <a:ln w="12700">
            <a:solidFill>
              <a:srgbClr val="00A5C7"/>
            </a:solidFill>
            <a:prstDash val="solid"/>
          </a:ln>
        </p:spPr>
      </p:sp>
      <p:sp>
        <p:nvSpPr>
          <p:cNvPr id="22" name="Text 19"/>
          <p:cNvSpPr txBox="1"/>
          <p:nvPr/>
        </p:nvSpPr>
        <p:spPr>
          <a:xfrm>
            <a:off x="6263640" y="3154680"/>
            <a:ext cx="24688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Development &amp; Testing</a:t>
            </a:r>
            <a:endParaRPr lang="en-US" sz="1100" dirty="0"/>
          </a:p>
        </p:txBody>
      </p:sp>
      <p:sp>
        <p:nvSpPr>
          <p:cNvPr id="23" name="Text 20"/>
          <p:cNvSpPr txBox="1"/>
          <p:nvPr/>
        </p:nvSpPr>
        <p:spPr>
          <a:xfrm>
            <a:off x="6263640" y="3474720"/>
            <a:ext cx="2468880" cy="1051560"/>
          </a:xfrm>
          <a:prstGeom prst="rect">
            <a:avLst/>
          </a:prstGeom>
          <a:noFill/>
          <a:ln/>
        </p:spPr>
        <p:txBody>
          <a:bodyPr wrap="square" lIns="635" tIns="635" rIns="635" bIns="635" rtlCol="0" anchor="t"/>
          <a:lstStyle/>
          <a:p>
            <a:pPr marL="127000" indent="-127000">
              <a:spcAft>
                <a:spcPts val="300"/>
              </a:spcAft>
              <a:buSzPct val="100000"/>
              <a:buChar char="•"/>
            </a:pPr>
            <a:r>
              <a:rPr lang="en-US" sz="950" b="1" dirty="0">
                <a:solidFill>
                  <a:srgbClr val="1F2A3C"/>
                </a:solidFill>
                <a:latin typeface="Calibri" pitchFamily="34" charset="0"/>
                <a:ea typeface="Calibri" pitchFamily="34" charset="-122"/>
                <a:cs typeface="Calibri" pitchFamily="34" charset="-120"/>
              </a:rPr>
              <a:t>VS Code — </a:t>
            </a:r>
            <a:pPr indent="0" marL="0">
              <a:buNone/>
            </a:pPr>
            <a:r>
              <a:rPr lang="en-US" sz="950" dirty="0">
                <a:solidFill>
                  <a:srgbClr val="1F2A3C"/>
                </a:solidFill>
                <a:latin typeface="Calibri" pitchFamily="34" charset="0"/>
                <a:ea typeface="Calibri" pitchFamily="34" charset="-122"/>
                <a:cs typeface="Calibri" pitchFamily="34" charset="-120"/>
              </a:rPr>
              <a:t>writing and managing code.</a:t>
            </a:r>
            <a:endParaRPr lang="en-US" sz="950" dirty="0"/>
          </a:p>
          <a:p>
            <a:pPr marL="127000" indent="-127000">
              <a:spcAft>
                <a:spcPts val="300"/>
              </a:spcAft>
              <a:buSzPct val="100000"/>
              <a:buChar char="•"/>
            </a:pPr>
            <a:r>
              <a:rPr lang="en-US" sz="950" b="1" dirty="0">
                <a:solidFill>
                  <a:srgbClr val="1F2A3C"/>
                </a:solidFill>
                <a:latin typeface="Calibri" pitchFamily="34" charset="0"/>
                <a:ea typeface="Calibri" pitchFamily="34" charset="-122"/>
                <a:cs typeface="Calibri" pitchFamily="34" charset="-120"/>
              </a:rPr>
              <a:t>Postman — </a:t>
            </a:r>
            <a:pPr indent="0" marL="0">
              <a:buNone/>
            </a:pPr>
            <a:r>
              <a:rPr lang="en-US" sz="950" dirty="0">
                <a:solidFill>
                  <a:srgbClr val="1F2A3C"/>
                </a:solidFill>
                <a:latin typeface="Calibri" pitchFamily="34" charset="0"/>
                <a:ea typeface="Calibri" pitchFamily="34" charset="-122"/>
                <a:cs typeface="Calibri" pitchFamily="34" charset="-120"/>
              </a:rPr>
              <a:t>testing backend APIs.</a:t>
            </a:r>
            <a:endParaRPr lang="en-US" sz="950" dirty="0"/>
          </a:p>
        </p:txBody>
      </p:sp>
      <p:sp>
        <p:nvSpPr>
          <p:cNvPr id="24" name="Text 21"/>
          <p:cNvSpPr txBox="1"/>
          <p:nvPr/>
        </p:nvSpPr>
        <p:spPr>
          <a:xfrm>
            <a:off x="365760" y="4599432"/>
            <a:ext cx="8412480" cy="228600"/>
          </a:xfrm>
          <a:prstGeom prst="rect">
            <a:avLst/>
          </a:prstGeom>
          <a:noFill/>
          <a:ln/>
        </p:spPr>
        <p:txBody>
          <a:bodyPr wrap="square" lIns="635" tIns="635" rIns="635" bIns="635" rtlCol="0" anchor="t"/>
          <a:lstStyle/>
          <a:p>
            <a:pPr indent="0" marL="0">
              <a:buNone/>
            </a:pPr>
            <a:r>
              <a:rPr lang="en-US" sz="800" i="1" dirty="0">
                <a:solidFill>
                  <a:srgbClr val="5B6B82"/>
                </a:solidFill>
                <a:latin typeface="Calibri" pitchFamily="34" charset="0"/>
                <a:ea typeface="Calibri" pitchFamily="34" charset="-122"/>
                <a:cs typeface="Calibri" pitchFamily="34" charset="-120"/>
              </a:rPr>
              <a:t>Technologies are as listed in the internship report; usage may vary across modules of the final implementation.</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System Architecture</a:t>
            </a:r>
            <a:endParaRPr lang="en-US" sz="2200" dirty="0"/>
          </a:p>
        </p:txBody>
      </p:sp>
      <p:sp>
        <p:nvSpPr>
          <p:cNvPr id="4" name="Text 1"/>
          <p:cNvSpPr txBox="1"/>
          <p:nvPr/>
        </p:nvSpPr>
        <p:spPr>
          <a:xfrm>
            <a:off x="365760" y="896112"/>
            <a:ext cx="3840480" cy="502920"/>
          </a:xfrm>
          <a:prstGeom prst="roundRect">
            <a:avLst>
              <a:gd name="adj" fmla="val 14545"/>
            </a:avLst>
          </a:prstGeom>
          <a:solidFill>
            <a:srgbClr val="D7F3FA"/>
          </a:solidFill>
          <a:ln w="12700">
            <a:solidFill>
              <a:srgbClr val="00A5C7"/>
            </a:solidFill>
          </a:ln>
        </p:spPr>
        <p:txBody>
          <a:bodyPr wrap="square" lIns="508" tIns="508" rIns="508" bIns="508"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PRESENTATION LAYER</a:t>
            </a:r>
            <a:endParaRPr lang="en-US" sz="900" dirty="0"/>
          </a:p>
          <a:p>
            <a:pPr algn="ctr" indent="0" marL="0">
              <a:buNone/>
            </a:pPr>
            <a:r>
              <a:rPr lang="en-US" sz="900" b="1" dirty="0">
                <a:solidFill>
                  <a:srgbClr val="0B1F3A"/>
                </a:solidFill>
                <a:latin typeface="Calibri" pitchFamily="34" charset="0"/>
                <a:ea typeface="Calibri" pitchFamily="34" charset="-122"/>
                <a:cs typeface="Calibri" pitchFamily="34" charset="-120"/>
              </a:rPr>
              <a:t>HTML · CSS · JavaScript · Bootstrap</a:t>
            </a:r>
            <a:endParaRPr lang="en-US" sz="900" dirty="0"/>
          </a:p>
        </p:txBody>
      </p:sp>
      <p:sp>
        <p:nvSpPr>
          <p:cNvPr id="5" name="Text 2"/>
          <p:cNvSpPr txBox="1"/>
          <p:nvPr/>
        </p:nvSpPr>
        <p:spPr>
          <a:xfrm>
            <a:off x="4937760" y="896112"/>
            <a:ext cx="1554480" cy="502920"/>
          </a:xfrm>
          <a:prstGeom prst="roundRect">
            <a:avLst>
              <a:gd name="adj" fmla="val 14545"/>
            </a:avLst>
          </a:prstGeom>
          <a:solidFill>
            <a:srgbClr val="0E7C86"/>
          </a:solidFill>
          <a:ln w="12700">
            <a:solidFill>
              <a:srgbClr val="0E7C86"/>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Database Layer</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MySQL / SQLite</a:t>
            </a:r>
            <a:endParaRPr lang="en-US" sz="900" dirty="0"/>
          </a:p>
        </p:txBody>
      </p:sp>
      <p:sp>
        <p:nvSpPr>
          <p:cNvPr id="6" name="Text 3"/>
          <p:cNvSpPr txBox="1"/>
          <p:nvPr/>
        </p:nvSpPr>
        <p:spPr>
          <a:xfrm>
            <a:off x="7223760" y="896112"/>
            <a:ext cx="1554480" cy="502920"/>
          </a:xfrm>
          <a:prstGeom prst="roundRect">
            <a:avLst>
              <a:gd name="adj" fmla="val 14545"/>
            </a:avLst>
          </a:prstGeom>
          <a:solidFill>
            <a:srgbClr val="DCE6F5"/>
          </a:solidFill>
          <a:ln w="12700">
            <a:solidFill>
              <a:srgbClr val="12305C"/>
            </a:solidFill>
          </a:ln>
        </p:spPr>
        <p:txBody>
          <a:bodyPr wrap="square" lIns="508" tIns="508" rIns="508" bIns="508"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BUSINESS LOGIC</a:t>
            </a:r>
            <a:endParaRPr lang="en-US" sz="850" dirty="0"/>
          </a:p>
          <a:p>
            <a:pPr algn="ctr" indent="0" marL="0">
              <a:buNone/>
            </a:pPr>
            <a:r>
              <a:rPr lang="en-US" sz="850" b="1" dirty="0">
                <a:solidFill>
                  <a:srgbClr val="0B1F3A"/>
                </a:solidFill>
                <a:latin typeface="Calibri" pitchFamily="34" charset="0"/>
                <a:ea typeface="Calibri" pitchFamily="34" charset="-122"/>
                <a:cs typeface="Calibri" pitchFamily="34" charset="-120"/>
              </a:rPr>
              <a:t>Flask · NLP · TF-IDF · ML</a:t>
            </a:r>
            <a:endParaRPr lang="en-US" sz="850" dirty="0"/>
          </a:p>
        </p:txBody>
      </p:sp>
      <p:sp>
        <p:nvSpPr>
          <p:cNvPr id="7" name="Text 4"/>
          <p:cNvSpPr txBox="1"/>
          <p:nvPr/>
        </p:nvSpPr>
        <p:spPr>
          <a:xfrm>
            <a:off x="365760" y="1691640"/>
            <a:ext cx="1554480" cy="594360"/>
          </a:xfrm>
          <a:prstGeom prst="roundRect">
            <a:avLst>
              <a:gd name="adj" fmla="val 12308"/>
            </a:avLst>
          </a:prstGeom>
          <a:solidFill>
            <a:srgbClr val="5B6B82"/>
          </a:solidFill>
          <a:ln w="12700">
            <a:solidFill>
              <a:srgbClr val="5B6B82"/>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p:txBody>
      </p:sp>
      <p:sp>
        <p:nvSpPr>
          <p:cNvPr id="8" name="Text 5"/>
          <p:cNvSpPr txBox="1"/>
          <p:nvPr/>
        </p:nvSpPr>
        <p:spPr>
          <a:xfrm>
            <a:off x="2651760" y="1691640"/>
            <a:ext cx="1554480" cy="594360"/>
          </a:xfrm>
          <a:prstGeom prst="roundRect">
            <a:avLst>
              <a:gd name="adj" fmla="val 12308"/>
            </a:avLst>
          </a:prstGeom>
          <a:solidFill>
            <a:srgbClr val="00A5C7"/>
          </a:solidFill>
          <a:ln w="12700">
            <a:solidFill>
              <a:srgbClr val="00A5C7"/>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Chat Interface</a:t>
            </a:r>
            <a:endParaRPr lang="en-US" sz="1000" dirty="0"/>
          </a:p>
        </p:txBody>
      </p:sp>
      <p:sp>
        <p:nvSpPr>
          <p:cNvPr id="9" name="Text 6"/>
          <p:cNvSpPr txBox="1"/>
          <p:nvPr/>
        </p:nvSpPr>
        <p:spPr>
          <a:xfrm>
            <a:off x="4937760" y="1691640"/>
            <a:ext cx="1554480" cy="594360"/>
          </a:xfrm>
          <a:prstGeom prst="roundRect">
            <a:avLst>
              <a:gd name="adj" fmla="val 12308"/>
            </a:avLst>
          </a:prstGeom>
          <a:solidFill>
            <a:srgbClr val="12305C"/>
          </a:solidFill>
          <a:ln w="12700">
            <a:solidFill>
              <a:srgbClr val="12305C"/>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Flask Backend</a:t>
            </a:r>
            <a:endParaRPr lang="en-US" sz="1000" dirty="0"/>
          </a:p>
        </p:txBody>
      </p:sp>
      <p:sp>
        <p:nvSpPr>
          <p:cNvPr id="10" name="Text 7"/>
          <p:cNvSpPr txBox="1"/>
          <p:nvPr/>
        </p:nvSpPr>
        <p:spPr>
          <a:xfrm>
            <a:off x="7223760" y="1691640"/>
            <a:ext cx="1554480" cy="594360"/>
          </a:xfrm>
          <a:prstGeom prst="roundRect">
            <a:avLst>
              <a:gd name="adj" fmla="val 12308"/>
            </a:avLst>
          </a:prstGeom>
          <a:solidFill>
            <a:srgbClr val="12305C"/>
          </a:solidFill>
          <a:ln w="12700">
            <a:solidFill>
              <a:srgbClr val="12305C"/>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NLP Text Preprocessing</a:t>
            </a:r>
            <a:endParaRPr lang="en-US" sz="1000" dirty="0"/>
          </a:p>
        </p:txBody>
      </p:sp>
      <p:sp>
        <p:nvSpPr>
          <p:cNvPr id="11" name="Text 8"/>
          <p:cNvSpPr txBox="1"/>
          <p:nvPr/>
        </p:nvSpPr>
        <p:spPr>
          <a:xfrm>
            <a:off x="7223760" y="2743200"/>
            <a:ext cx="1554480" cy="594360"/>
          </a:xfrm>
          <a:prstGeom prst="roundRect">
            <a:avLst>
              <a:gd name="adj" fmla="val 12308"/>
            </a:avLst>
          </a:prstGeom>
          <a:solidFill>
            <a:srgbClr val="12305C"/>
          </a:solidFill>
          <a:ln w="12700">
            <a:solidFill>
              <a:srgbClr val="12305C"/>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TF-IDF Feature Extraction</a:t>
            </a:r>
            <a:endParaRPr lang="en-US" sz="1000" dirty="0"/>
          </a:p>
        </p:txBody>
      </p:sp>
      <p:sp>
        <p:nvSpPr>
          <p:cNvPr id="12" name="Text 9"/>
          <p:cNvSpPr txBox="1"/>
          <p:nvPr/>
        </p:nvSpPr>
        <p:spPr>
          <a:xfrm>
            <a:off x="4937760" y="2743200"/>
            <a:ext cx="1554480" cy="594360"/>
          </a:xfrm>
          <a:prstGeom prst="roundRect">
            <a:avLst>
              <a:gd name="adj" fmla="val 12308"/>
            </a:avLst>
          </a:prstGeom>
          <a:solidFill>
            <a:srgbClr val="12305C"/>
          </a:solidFill>
          <a:ln w="12700">
            <a:solidFill>
              <a:srgbClr val="12305C"/>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ML Intent Classification</a:t>
            </a:r>
            <a:endParaRPr lang="en-US" sz="1000" dirty="0"/>
          </a:p>
        </p:txBody>
      </p:sp>
      <p:sp>
        <p:nvSpPr>
          <p:cNvPr id="13" name="Text 10"/>
          <p:cNvSpPr txBox="1"/>
          <p:nvPr/>
        </p:nvSpPr>
        <p:spPr>
          <a:xfrm>
            <a:off x="2651760" y="2743200"/>
            <a:ext cx="1554480" cy="594360"/>
          </a:xfrm>
          <a:prstGeom prst="roundRect">
            <a:avLst>
              <a:gd name="adj" fmla="val 12308"/>
            </a:avLst>
          </a:prstGeom>
          <a:solidFill>
            <a:srgbClr val="12305C"/>
          </a:solidFill>
          <a:ln w="12700">
            <a:solidFill>
              <a:srgbClr val="12305C"/>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Response Selection</a:t>
            </a:r>
            <a:endParaRPr lang="en-US" sz="1000" dirty="0"/>
          </a:p>
        </p:txBody>
      </p:sp>
      <p:sp>
        <p:nvSpPr>
          <p:cNvPr id="14" name="Text 11"/>
          <p:cNvSpPr txBox="1"/>
          <p:nvPr/>
        </p:nvSpPr>
        <p:spPr>
          <a:xfrm>
            <a:off x="365760" y="2743200"/>
            <a:ext cx="1554480" cy="594360"/>
          </a:xfrm>
          <a:prstGeom prst="roundRect">
            <a:avLst>
              <a:gd name="adj" fmla="val 12308"/>
            </a:avLst>
          </a:prstGeom>
          <a:solidFill>
            <a:srgbClr val="00A5C7"/>
          </a:solidFill>
          <a:ln w="12700">
            <a:solidFill>
              <a:srgbClr val="00A5C7"/>
            </a:solid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Chatbot Response to Customer</a:t>
            </a:r>
            <a:endParaRPr lang="en-US" sz="1000" dirty="0"/>
          </a:p>
        </p:txBody>
      </p:sp>
      <p:sp>
        <p:nvSpPr>
          <p:cNvPr id="15" name="Text 12"/>
          <p:cNvSpPr txBox="1"/>
          <p:nvPr/>
        </p:nvSpPr>
        <p:spPr>
          <a:xfrm>
            <a:off x="2651760" y="3840480"/>
            <a:ext cx="1554480" cy="640080"/>
          </a:xfrm>
          <a:prstGeom prst="roundRect">
            <a:avLst>
              <a:gd name="adj" fmla="val 11429"/>
            </a:avLst>
          </a:prstGeom>
          <a:solidFill>
            <a:srgbClr val="F5A623"/>
          </a:solidFill>
          <a:ln w="12700">
            <a:solidFill>
              <a:srgbClr val="F5A623"/>
            </a:solidFill>
          </a:ln>
        </p:spPr>
        <p:txBody>
          <a:bodyPr wrap="square" lIns="508" tIns="508" rIns="508" bIns="508"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Fallback / Human Support Escalation</a:t>
            </a:r>
            <a:endParaRPr lang="en-US" sz="950" dirty="0"/>
          </a:p>
        </p:txBody>
      </p:sp>
      <p:sp>
        <p:nvSpPr>
          <p:cNvPr id="16" name="Shape 13"/>
          <p:cNvSpPr/>
          <p:nvPr/>
        </p:nvSpPr>
        <p:spPr>
          <a:xfrm>
            <a:off x="1920240" y="1988820"/>
            <a:ext cx="731520" cy="0"/>
          </a:xfrm>
          <a:prstGeom prst="line">
            <a:avLst/>
          </a:prstGeom>
          <a:noFill/>
          <a:ln w="22225">
            <a:solidFill>
              <a:srgbClr val="00A5C7"/>
            </a:solidFill>
            <a:prstDash val="solid"/>
            <a:tailEnd type="triangle"/>
          </a:ln>
        </p:spPr>
      </p:sp>
      <p:sp>
        <p:nvSpPr>
          <p:cNvPr id="17" name="Shape 14"/>
          <p:cNvSpPr/>
          <p:nvPr/>
        </p:nvSpPr>
        <p:spPr>
          <a:xfrm>
            <a:off x="4206240" y="1988820"/>
            <a:ext cx="731520" cy="0"/>
          </a:xfrm>
          <a:prstGeom prst="line">
            <a:avLst/>
          </a:prstGeom>
          <a:noFill/>
          <a:ln w="22225">
            <a:solidFill>
              <a:srgbClr val="00A5C7"/>
            </a:solidFill>
            <a:prstDash val="solid"/>
            <a:tailEnd type="triangle"/>
          </a:ln>
        </p:spPr>
      </p:sp>
      <p:sp>
        <p:nvSpPr>
          <p:cNvPr id="18" name="Shape 15"/>
          <p:cNvSpPr/>
          <p:nvPr/>
        </p:nvSpPr>
        <p:spPr>
          <a:xfrm>
            <a:off x="6492240" y="1988820"/>
            <a:ext cx="731520" cy="0"/>
          </a:xfrm>
          <a:prstGeom prst="line">
            <a:avLst/>
          </a:prstGeom>
          <a:noFill/>
          <a:ln w="22225">
            <a:solidFill>
              <a:srgbClr val="00A5C7"/>
            </a:solidFill>
            <a:prstDash val="solid"/>
            <a:tailEnd type="triangle"/>
          </a:ln>
        </p:spPr>
      </p:sp>
      <p:sp>
        <p:nvSpPr>
          <p:cNvPr id="19" name="Shape 16"/>
          <p:cNvSpPr/>
          <p:nvPr/>
        </p:nvSpPr>
        <p:spPr>
          <a:xfrm>
            <a:off x="8001000" y="2286000"/>
            <a:ext cx="0" cy="457200"/>
          </a:xfrm>
          <a:prstGeom prst="line">
            <a:avLst/>
          </a:prstGeom>
          <a:noFill/>
          <a:ln w="22225">
            <a:solidFill>
              <a:srgbClr val="00A5C7"/>
            </a:solidFill>
            <a:prstDash val="solid"/>
            <a:tailEnd type="triangle"/>
          </a:ln>
        </p:spPr>
      </p:sp>
      <p:sp>
        <p:nvSpPr>
          <p:cNvPr id="20" name="Shape 17"/>
          <p:cNvSpPr/>
          <p:nvPr/>
        </p:nvSpPr>
        <p:spPr>
          <a:xfrm flipH="1">
            <a:off x="6492240" y="3040380"/>
            <a:ext cx="731520" cy="0"/>
          </a:xfrm>
          <a:prstGeom prst="line">
            <a:avLst/>
          </a:prstGeom>
          <a:noFill/>
          <a:ln w="22225">
            <a:solidFill>
              <a:srgbClr val="00A5C7"/>
            </a:solidFill>
            <a:prstDash val="solid"/>
            <a:tailEnd type="triangle"/>
          </a:ln>
        </p:spPr>
      </p:sp>
      <p:sp>
        <p:nvSpPr>
          <p:cNvPr id="21" name="Shape 18"/>
          <p:cNvSpPr/>
          <p:nvPr/>
        </p:nvSpPr>
        <p:spPr>
          <a:xfrm flipH="1">
            <a:off x="4206240" y="3040380"/>
            <a:ext cx="731520" cy="0"/>
          </a:xfrm>
          <a:prstGeom prst="line">
            <a:avLst/>
          </a:prstGeom>
          <a:noFill/>
          <a:ln w="22225">
            <a:solidFill>
              <a:srgbClr val="00A5C7"/>
            </a:solidFill>
            <a:prstDash val="solid"/>
            <a:tailEnd type="triangle"/>
          </a:ln>
        </p:spPr>
      </p:sp>
      <p:sp>
        <p:nvSpPr>
          <p:cNvPr id="22" name="Shape 19"/>
          <p:cNvSpPr/>
          <p:nvPr/>
        </p:nvSpPr>
        <p:spPr>
          <a:xfrm flipH="1">
            <a:off x="1920240" y="3040380"/>
            <a:ext cx="731520" cy="0"/>
          </a:xfrm>
          <a:prstGeom prst="line">
            <a:avLst/>
          </a:prstGeom>
          <a:noFill/>
          <a:ln w="22225">
            <a:solidFill>
              <a:srgbClr val="00A5C7"/>
            </a:solidFill>
            <a:prstDash val="solid"/>
            <a:tailEnd type="triangle"/>
          </a:ln>
        </p:spPr>
      </p:sp>
      <p:sp>
        <p:nvSpPr>
          <p:cNvPr id="23" name="Shape 20"/>
          <p:cNvSpPr/>
          <p:nvPr/>
        </p:nvSpPr>
        <p:spPr>
          <a:xfrm flipV="1">
            <a:off x="1143000" y="2286000"/>
            <a:ext cx="0" cy="457200"/>
          </a:xfrm>
          <a:prstGeom prst="line">
            <a:avLst/>
          </a:prstGeom>
          <a:noFill/>
          <a:ln w="22225">
            <a:solidFill>
              <a:srgbClr val="00A5C7"/>
            </a:solidFill>
            <a:prstDash val="solid"/>
            <a:tailEnd type="triangle"/>
          </a:ln>
        </p:spPr>
      </p:sp>
      <p:sp>
        <p:nvSpPr>
          <p:cNvPr id="24" name="Text 21"/>
          <p:cNvSpPr txBox="1"/>
          <p:nvPr/>
        </p:nvSpPr>
        <p:spPr>
          <a:xfrm>
            <a:off x="1188720" y="2377440"/>
            <a:ext cx="1280160" cy="228600"/>
          </a:xfrm>
          <a:prstGeom prst="rect">
            <a:avLst/>
          </a:prstGeom>
          <a:noFill/>
          <a:ln/>
        </p:spPr>
        <p:txBody>
          <a:bodyPr wrap="square" lIns="635" tIns="635" rIns="635" bIns="635" rtlCol="0" anchor="t"/>
          <a:lstStyle/>
          <a:p>
            <a:pPr indent="0" marL="0">
              <a:buNone/>
            </a:pPr>
            <a:r>
              <a:rPr lang="en-US" sz="750" i="1" dirty="0">
                <a:solidFill>
                  <a:srgbClr val="5B6B82"/>
                </a:solidFill>
                <a:latin typeface="Calibri" pitchFamily="34" charset="0"/>
                <a:ea typeface="Calibri" pitchFamily="34" charset="-122"/>
                <a:cs typeface="Calibri" pitchFamily="34" charset="-120"/>
              </a:rPr>
              <a:t>Response shown</a:t>
            </a:r>
            <a:endParaRPr lang="en-US" sz="750" dirty="0"/>
          </a:p>
        </p:txBody>
      </p:sp>
      <p:sp>
        <p:nvSpPr>
          <p:cNvPr id="25" name="Shape 22"/>
          <p:cNvSpPr/>
          <p:nvPr/>
        </p:nvSpPr>
        <p:spPr>
          <a:xfrm>
            <a:off x="5715000" y="1399032"/>
            <a:ext cx="0" cy="292608"/>
          </a:xfrm>
          <a:prstGeom prst="line">
            <a:avLst/>
          </a:prstGeom>
          <a:noFill/>
          <a:ln w="22225">
            <a:solidFill>
              <a:srgbClr val="0E7C86"/>
            </a:solidFill>
            <a:prstDash val="solid"/>
            <a:headEnd type="triangle"/>
            <a:tailEnd type="triangle"/>
          </a:ln>
        </p:spPr>
      </p:sp>
      <p:sp>
        <p:nvSpPr>
          <p:cNvPr id="26" name="Text 23"/>
          <p:cNvSpPr txBox="1"/>
          <p:nvPr/>
        </p:nvSpPr>
        <p:spPr>
          <a:xfrm>
            <a:off x="5760720" y="1399032"/>
            <a:ext cx="1097280" cy="274320"/>
          </a:xfrm>
          <a:prstGeom prst="rect">
            <a:avLst/>
          </a:prstGeom>
          <a:noFill/>
          <a:ln/>
        </p:spPr>
        <p:txBody>
          <a:bodyPr wrap="square" lIns="635" tIns="635" rIns="635" bIns="635" rtlCol="0" anchor="t"/>
          <a:lstStyle/>
          <a:p>
            <a:pPr indent="0" marL="0">
              <a:buNone/>
            </a:pPr>
            <a:r>
              <a:rPr lang="en-US" sz="750" i="1" dirty="0">
                <a:solidFill>
                  <a:srgbClr val="0E7C86"/>
                </a:solidFill>
                <a:latin typeface="Calibri" pitchFamily="34" charset="0"/>
                <a:ea typeface="Calibri" pitchFamily="34" charset="-122"/>
                <a:cs typeface="Calibri" pitchFamily="34" charset="-120"/>
              </a:rPr>
              <a:t>store / retrieve</a:t>
            </a:r>
            <a:endParaRPr lang="en-US" sz="750" dirty="0"/>
          </a:p>
        </p:txBody>
      </p:sp>
      <p:sp>
        <p:nvSpPr>
          <p:cNvPr id="27" name="Shape 24"/>
          <p:cNvSpPr/>
          <p:nvPr/>
        </p:nvSpPr>
        <p:spPr>
          <a:xfrm>
            <a:off x="3429000" y="3337560"/>
            <a:ext cx="0" cy="502920"/>
          </a:xfrm>
          <a:prstGeom prst="line">
            <a:avLst/>
          </a:prstGeom>
          <a:noFill/>
          <a:ln w="22225">
            <a:solidFill>
              <a:srgbClr val="F5A623"/>
            </a:solidFill>
            <a:prstDash val="dash"/>
            <a:tailEnd type="triangle"/>
          </a:ln>
        </p:spPr>
      </p:sp>
      <p:sp>
        <p:nvSpPr>
          <p:cNvPr id="28" name="Text 25"/>
          <p:cNvSpPr txBox="1"/>
          <p:nvPr/>
        </p:nvSpPr>
        <p:spPr>
          <a:xfrm>
            <a:off x="3520440" y="3383280"/>
            <a:ext cx="1463040" cy="411480"/>
          </a:xfrm>
          <a:prstGeom prst="rect">
            <a:avLst/>
          </a:prstGeom>
          <a:noFill/>
          <a:ln/>
        </p:spPr>
        <p:txBody>
          <a:bodyPr wrap="square" lIns="635" tIns="635" rIns="635" bIns="635" rtlCol="0" anchor="t"/>
          <a:lstStyle/>
          <a:p>
            <a:pPr indent="0" marL="0">
              <a:buNone/>
            </a:pPr>
            <a:r>
              <a:rPr lang="en-US" sz="800" b="1" dirty="0">
                <a:solidFill>
                  <a:srgbClr val="B9770E"/>
                </a:solidFill>
                <a:latin typeface="Calibri" pitchFamily="34" charset="0"/>
                <a:ea typeface="Calibri" pitchFamily="34" charset="-122"/>
                <a:cs typeface="Calibri" pitchFamily="34" charset="-120"/>
              </a:rPr>
              <a:t>Low confidence or complex query</a:t>
            </a:r>
            <a:endParaRPr lang="en-US" sz="800" dirty="0"/>
          </a:p>
        </p:txBody>
      </p:sp>
      <p:sp>
        <p:nvSpPr>
          <p:cNvPr id="29" name="Text 26"/>
          <p:cNvSpPr txBox="1"/>
          <p:nvPr/>
        </p:nvSpPr>
        <p:spPr>
          <a:xfrm>
            <a:off x="4846320" y="3611880"/>
            <a:ext cx="3931920" cy="1143000"/>
          </a:xfrm>
          <a:prstGeom prst="rect">
            <a:avLst/>
          </a:prstGeom>
          <a:noFill/>
          <a:ln/>
        </p:spPr>
        <p:txBody>
          <a:bodyPr wrap="square" lIns="635" tIns="635" rIns="635" bIns="635" rtlCol="0" anchor="t"/>
          <a:lstStyle/>
          <a:p>
            <a:pPr marL="127000" indent="-127000">
              <a:spcAft>
                <a:spcPts val="300"/>
              </a:spcAft>
              <a:buSzPct val="100000"/>
              <a:buChar char="•"/>
            </a:pPr>
            <a:r>
              <a:rPr lang="en-US" sz="850" b="1" dirty="0">
                <a:solidFill>
                  <a:srgbClr val="1F2A3C"/>
                </a:solidFill>
                <a:latin typeface="Calibri" pitchFamily="34" charset="0"/>
                <a:ea typeface="Calibri" pitchFamily="34" charset="-122"/>
                <a:cs typeface="Calibri" pitchFamily="34" charset="-120"/>
              </a:rPr>
              <a:t>Presentation: </a:t>
            </a:r>
            <a:pPr indent="0" marL="0">
              <a:buNone/>
            </a:pPr>
            <a:r>
              <a:rPr lang="en-US" sz="850" dirty="0">
                <a:solidFill>
                  <a:srgbClr val="1F2A3C"/>
                </a:solidFill>
                <a:latin typeface="Calibri" pitchFamily="34" charset="0"/>
                <a:ea typeface="Calibri" pitchFamily="34" charset="-122"/>
                <a:cs typeface="Calibri" pitchFamily="34" charset="-120"/>
              </a:rPr>
              <a:t>user enters messages and views responses.</a:t>
            </a:r>
            <a:endParaRPr lang="en-US" sz="850" dirty="0"/>
          </a:p>
          <a:p>
            <a:pPr marL="127000" indent="-127000">
              <a:spcAft>
                <a:spcPts val="300"/>
              </a:spcAft>
              <a:buSzPct val="100000"/>
              <a:buChar char="•"/>
            </a:pPr>
            <a:r>
              <a:rPr lang="en-US" sz="850" b="1" dirty="0">
                <a:solidFill>
                  <a:srgbClr val="1F2A3C"/>
                </a:solidFill>
                <a:latin typeface="Calibri" pitchFamily="34" charset="0"/>
                <a:ea typeface="Calibri" pitchFamily="34" charset="-122"/>
                <a:cs typeface="Calibri" pitchFamily="34" charset="-120"/>
              </a:rPr>
              <a:t>Business logic: </a:t>
            </a:r>
            <a:pPr indent="0" marL="0">
              <a:buNone/>
            </a:pPr>
            <a:r>
              <a:rPr lang="en-US" sz="850" dirty="0">
                <a:solidFill>
                  <a:srgbClr val="1F2A3C"/>
                </a:solidFill>
                <a:latin typeface="Calibri" pitchFamily="34" charset="0"/>
                <a:ea typeface="Calibri" pitchFamily="34" charset="-122"/>
                <a:cs typeface="Calibri" pitchFamily="34" charset="-120"/>
              </a:rPr>
              <a:t>Flask receives the message, preprocesses it, predicts intent and selects a response or fallback.</a:t>
            </a:r>
            <a:endParaRPr lang="en-US" sz="850" dirty="0"/>
          </a:p>
          <a:p>
            <a:pPr marL="127000" indent="-127000">
              <a:spcAft>
                <a:spcPts val="300"/>
              </a:spcAft>
              <a:buSzPct val="100000"/>
              <a:buChar char="•"/>
            </a:pPr>
            <a:r>
              <a:rPr lang="en-US" sz="850" b="1" dirty="0">
                <a:solidFill>
                  <a:srgbClr val="1F2A3C"/>
                </a:solidFill>
                <a:latin typeface="Calibri" pitchFamily="34" charset="0"/>
                <a:ea typeface="Calibri" pitchFamily="34" charset="-122"/>
                <a:cs typeface="Calibri" pitchFamily="34" charset="-120"/>
              </a:rPr>
              <a:t>Database: </a:t>
            </a:r>
            <a:pPr indent="0" marL="0">
              <a:buNone/>
            </a:pPr>
            <a:r>
              <a:rPr lang="en-US" sz="850" dirty="0">
                <a:solidFill>
                  <a:srgbClr val="1F2A3C"/>
                </a:solidFill>
                <a:latin typeface="Calibri" pitchFamily="34" charset="0"/>
                <a:ea typeface="Calibri" pitchFamily="34" charset="-122"/>
                <a:cs typeface="Calibri" pitchFamily="34" charset="-120"/>
              </a:rPr>
              <a:t>stores conversations and chatbot information; supports administration.</a:t>
            </a:r>
            <a:endParaRPr lang="en-US" sz="8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Proposed Methodology</a:t>
            </a:r>
            <a:endParaRPr lang="en-US" sz="2200" dirty="0"/>
          </a:p>
        </p:txBody>
      </p:sp>
      <p:sp>
        <p:nvSpPr>
          <p:cNvPr id="4" name="Shape 1"/>
          <p:cNvSpPr/>
          <p:nvPr/>
        </p:nvSpPr>
        <p:spPr>
          <a:xfrm>
            <a:off x="365760" y="914400"/>
            <a:ext cx="2651760" cy="1143000"/>
          </a:xfrm>
          <a:prstGeom prst="rect">
            <a:avLst/>
          </a:prstGeom>
          <a:solidFill>
            <a:srgbClr val="FFFFFF"/>
          </a:solidFill>
          <a:ln w="12700">
            <a:solidFill>
              <a:srgbClr val="BFE3EE"/>
            </a:solidFill>
            <a:prstDash val="solid"/>
          </a:ln>
        </p:spPr>
      </p:sp>
      <p:sp>
        <p:nvSpPr>
          <p:cNvPr id="5" name="Shape 2"/>
          <p:cNvSpPr/>
          <p:nvPr/>
        </p:nvSpPr>
        <p:spPr>
          <a:xfrm>
            <a:off x="438912" y="987552"/>
            <a:ext cx="347472" cy="347472"/>
          </a:xfrm>
          <a:prstGeom prst="ellipse">
            <a:avLst/>
          </a:prstGeom>
          <a:solidFill>
            <a:srgbClr val="12305C"/>
          </a:solidFill>
          <a:ln w="12700">
            <a:solidFill>
              <a:srgbClr val="FFFFFF"/>
            </a:solidFill>
            <a:prstDash val="solid"/>
          </a:ln>
        </p:spPr>
      </p:sp>
      <p:sp>
        <p:nvSpPr>
          <p:cNvPr id="6" name="Text 3"/>
          <p:cNvSpPr txBox="1"/>
          <p:nvPr/>
        </p:nvSpPr>
        <p:spPr>
          <a:xfrm>
            <a:off x="438912" y="9875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841248" y="98755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User Interaction</a:t>
            </a:r>
            <a:endParaRPr lang="en-US" sz="1100" dirty="0"/>
          </a:p>
        </p:txBody>
      </p:sp>
      <p:sp>
        <p:nvSpPr>
          <p:cNvPr id="8" name="Text 5"/>
          <p:cNvSpPr txBox="1"/>
          <p:nvPr/>
        </p:nvSpPr>
        <p:spPr>
          <a:xfrm>
            <a:off x="438912" y="137160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The customer enters a question or service-related message through the chatbot interface.</a:t>
            </a:r>
            <a:endParaRPr lang="en-US" sz="950" dirty="0"/>
          </a:p>
        </p:txBody>
      </p:sp>
      <p:sp>
        <p:nvSpPr>
          <p:cNvPr id="9" name="Shape 6"/>
          <p:cNvSpPr/>
          <p:nvPr/>
        </p:nvSpPr>
        <p:spPr>
          <a:xfrm>
            <a:off x="3017520" y="1481328"/>
            <a:ext cx="228600" cy="0"/>
          </a:xfrm>
          <a:prstGeom prst="line">
            <a:avLst/>
          </a:prstGeom>
          <a:noFill/>
          <a:ln w="22225">
            <a:solidFill>
              <a:srgbClr val="00A5C7"/>
            </a:solidFill>
            <a:prstDash val="solid"/>
            <a:tailEnd type="triangle"/>
          </a:ln>
        </p:spPr>
      </p:sp>
      <p:sp>
        <p:nvSpPr>
          <p:cNvPr id="10" name="Shape 7"/>
          <p:cNvSpPr/>
          <p:nvPr/>
        </p:nvSpPr>
        <p:spPr>
          <a:xfrm>
            <a:off x="3246120" y="914400"/>
            <a:ext cx="2651760" cy="1143000"/>
          </a:xfrm>
          <a:prstGeom prst="rect">
            <a:avLst/>
          </a:prstGeom>
          <a:solidFill>
            <a:srgbClr val="FFFFFF"/>
          </a:solidFill>
          <a:ln w="12700">
            <a:solidFill>
              <a:srgbClr val="BFE3EE"/>
            </a:solidFill>
            <a:prstDash val="solid"/>
          </a:ln>
        </p:spPr>
      </p:sp>
      <p:sp>
        <p:nvSpPr>
          <p:cNvPr id="11" name="Shape 8"/>
          <p:cNvSpPr/>
          <p:nvPr/>
        </p:nvSpPr>
        <p:spPr>
          <a:xfrm>
            <a:off x="3319272" y="987552"/>
            <a:ext cx="347472" cy="347472"/>
          </a:xfrm>
          <a:prstGeom prst="ellipse">
            <a:avLst/>
          </a:prstGeom>
          <a:solidFill>
            <a:srgbClr val="12305C"/>
          </a:solidFill>
          <a:ln w="12700">
            <a:solidFill>
              <a:srgbClr val="FFFFFF"/>
            </a:solidFill>
            <a:prstDash val="solid"/>
          </a:ln>
        </p:spPr>
      </p:sp>
      <p:sp>
        <p:nvSpPr>
          <p:cNvPr id="12" name="Text 9"/>
          <p:cNvSpPr txBox="1"/>
          <p:nvPr/>
        </p:nvSpPr>
        <p:spPr>
          <a:xfrm>
            <a:off x="3319272" y="9875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3721608" y="98755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Input Processing</a:t>
            </a:r>
            <a:endParaRPr lang="en-US" sz="1100" dirty="0"/>
          </a:p>
        </p:txBody>
      </p:sp>
      <p:sp>
        <p:nvSpPr>
          <p:cNvPr id="14" name="Text 11"/>
          <p:cNvSpPr txBox="1"/>
          <p:nvPr/>
        </p:nvSpPr>
        <p:spPr>
          <a:xfrm>
            <a:off x="3319272" y="137160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The Flask backend receives the message and checks that it is valid and non-empty.</a:t>
            </a:r>
            <a:endParaRPr lang="en-US" sz="950" dirty="0"/>
          </a:p>
        </p:txBody>
      </p:sp>
      <p:sp>
        <p:nvSpPr>
          <p:cNvPr id="15" name="Shape 12"/>
          <p:cNvSpPr/>
          <p:nvPr/>
        </p:nvSpPr>
        <p:spPr>
          <a:xfrm>
            <a:off x="5897880" y="1481328"/>
            <a:ext cx="228600" cy="0"/>
          </a:xfrm>
          <a:prstGeom prst="line">
            <a:avLst/>
          </a:prstGeom>
          <a:noFill/>
          <a:ln w="22225">
            <a:solidFill>
              <a:srgbClr val="00A5C7"/>
            </a:solidFill>
            <a:prstDash val="solid"/>
            <a:tailEnd type="triangle"/>
          </a:ln>
        </p:spPr>
      </p:sp>
      <p:sp>
        <p:nvSpPr>
          <p:cNvPr id="16" name="Shape 13"/>
          <p:cNvSpPr/>
          <p:nvPr/>
        </p:nvSpPr>
        <p:spPr>
          <a:xfrm>
            <a:off x="6126480" y="914400"/>
            <a:ext cx="2651760" cy="1143000"/>
          </a:xfrm>
          <a:prstGeom prst="rect">
            <a:avLst/>
          </a:prstGeom>
          <a:solidFill>
            <a:srgbClr val="FFFFFF"/>
          </a:solidFill>
          <a:ln w="12700">
            <a:solidFill>
              <a:srgbClr val="BFE3EE"/>
            </a:solidFill>
            <a:prstDash val="solid"/>
          </a:ln>
        </p:spPr>
      </p:sp>
      <p:sp>
        <p:nvSpPr>
          <p:cNvPr id="17" name="Shape 14"/>
          <p:cNvSpPr/>
          <p:nvPr/>
        </p:nvSpPr>
        <p:spPr>
          <a:xfrm>
            <a:off x="6199632" y="987552"/>
            <a:ext cx="347472" cy="347472"/>
          </a:xfrm>
          <a:prstGeom prst="ellipse">
            <a:avLst/>
          </a:prstGeom>
          <a:solidFill>
            <a:srgbClr val="12305C"/>
          </a:solidFill>
          <a:ln w="12700">
            <a:solidFill>
              <a:srgbClr val="FFFFFF"/>
            </a:solidFill>
            <a:prstDash val="solid"/>
          </a:ln>
        </p:spPr>
      </p:sp>
      <p:sp>
        <p:nvSpPr>
          <p:cNvPr id="18" name="Text 15"/>
          <p:cNvSpPr txBox="1"/>
          <p:nvPr/>
        </p:nvSpPr>
        <p:spPr>
          <a:xfrm>
            <a:off x="6199632" y="9875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6601968" y="98755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Text Preprocessing</a:t>
            </a:r>
            <a:endParaRPr lang="en-US" sz="1100" dirty="0"/>
          </a:p>
        </p:txBody>
      </p:sp>
      <p:sp>
        <p:nvSpPr>
          <p:cNvPr id="20" name="Text 17"/>
          <p:cNvSpPr txBox="1"/>
          <p:nvPr/>
        </p:nvSpPr>
        <p:spPr>
          <a:xfrm>
            <a:off x="6199632" y="137160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NLP prepares the text: tokenization, stop-word removal and lemmatization.</a:t>
            </a:r>
            <a:endParaRPr lang="en-US" sz="950" dirty="0"/>
          </a:p>
        </p:txBody>
      </p:sp>
      <p:sp>
        <p:nvSpPr>
          <p:cNvPr id="21" name="Shape 18"/>
          <p:cNvSpPr/>
          <p:nvPr/>
        </p:nvSpPr>
        <p:spPr>
          <a:xfrm>
            <a:off x="365760" y="2194560"/>
            <a:ext cx="2651760" cy="1143000"/>
          </a:xfrm>
          <a:prstGeom prst="rect">
            <a:avLst/>
          </a:prstGeom>
          <a:solidFill>
            <a:srgbClr val="FFFFFF"/>
          </a:solidFill>
          <a:ln w="12700">
            <a:solidFill>
              <a:srgbClr val="BFE3EE"/>
            </a:solidFill>
            <a:prstDash val="solid"/>
          </a:ln>
        </p:spPr>
      </p:sp>
      <p:sp>
        <p:nvSpPr>
          <p:cNvPr id="22" name="Shape 19"/>
          <p:cNvSpPr/>
          <p:nvPr/>
        </p:nvSpPr>
        <p:spPr>
          <a:xfrm>
            <a:off x="438912" y="2267712"/>
            <a:ext cx="347472" cy="347472"/>
          </a:xfrm>
          <a:prstGeom prst="ellipse">
            <a:avLst/>
          </a:prstGeom>
          <a:solidFill>
            <a:srgbClr val="12305C"/>
          </a:solidFill>
          <a:ln w="12700">
            <a:solidFill>
              <a:srgbClr val="FFFFFF"/>
            </a:solidFill>
            <a:prstDash val="solid"/>
          </a:ln>
        </p:spPr>
      </p:sp>
      <p:sp>
        <p:nvSpPr>
          <p:cNvPr id="23" name="Text 20"/>
          <p:cNvSpPr txBox="1"/>
          <p:nvPr/>
        </p:nvSpPr>
        <p:spPr>
          <a:xfrm>
            <a:off x="438912" y="2267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1"/>
          <p:cNvSpPr txBox="1"/>
          <p:nvPr/>
        </p:nvSpPr>
        <p:spPr>
          <a:xfrm>
            <a:off x="841248" y="226771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Feature Extraction</a:t>
            </a:r>
            <a:endParaRPr lang="en-US" sz="1100" dirty="0"/>
          </a:p>
        </p:txBody>
      </p:sp>
      <p:sp>
        <p:nvSpPr>
          <p:cNvPr id="25" name="Text 22"/>
          <p:cNvSpPr txBox="1"/>
          <p:nvPr/>
        </p:nvSpPr>
        <p:spPr>
          <a:xfrm>
            <a:off x="438912" y="265176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TF-IDF converts processed text into numerical features for the model.</a:t>
            </a:r>
            <a:endParaRPr lang="en-US" sz="950" dirty="0"/>
          </a:p>
        </p:txBody>
      </p:sp>
      <p:sp>
        <p:nvSpPr>
          <p:cNvPr id="26" name="Shape 23"/>
          <p:cNvSpPr/>
          <p:nvPr/>
        </p:nvSpPr>
        <p:spPr>
          <a:xfrm>
            <a:off x="3017520" y="2761488"/>
            <a:ext cx="228600" cy="0"/>
          </a:xfrm>
          <a:prstGeom prst="line">
            <a:avLst/>
          </a:prstGeom>
          <a:noFill/>
          <a:ln w="22225">
            <a:solidFill>
              <a:srgbClr val="00A5C7"/>
            </a:solidFill>
            <a:prstDash val="solid"/>
            <a:tailEnd type="triangle"/>
          </a:ln>
        </p:spPr>
      </p:sp>
      <p:sp>
        <p:nvSpPr>
          <p:cNvPr id="27" name="Shape 24"/>
          <p:cNvSpPr/>
          <p:nvPr/>
        </p:nvSpPr>
        <p:spPr>
          <a:xfrm>
            <a:off x="3246120" y="2194560"/>
            <a:ext cx="2651760" cy="1143000"/>
          </a:xfrm>
          <a:prstGeom prst="rect">
            <a:avLst/>
          </a:prstGeom>
          <a:solidFill>
            <a:srgbClr val="FFFFFF"/>
          </a:solidFill>
          <a:ln w="12700">
            <a:solidFill>
              <a:srgbClr val="BFE3EE"/>
            </a:solidFill>
            <a:prstDash val="solid"/>
          </a:ln>
        </p:spPr>
      </p:sp>
      <p:sp>
        <p:nvSpPr>
          <p:cNvPr id="28" name="Shape 25"/>
          <p:cNvSpPr/>
          <p:nvPr/>
        </p:nvSpPr>
        <p:spPr>
          <a:xfrm>
            <a:off x="3319272" y="2267712"/>
            <a:ext cx="347472" cy="347472"/>
          </a:xfrm>
          <a:prstGeom prst="ellipse">
            <a:avLst/>
          </a:prstGeom>
          <a:solidFill>
            <a:srgbClr val="12305C"/>
          </a:solidFill>
          <a:ln w="12700">
            <a:solidFill>
              <a:srgbClr val="FFFFFF"/>
            </a:solidFill>
            <a:prstDash val="solid"/>
          </a:ln>
        </p:spPr>
      </p:sp>
      <p:sp>
        <p:nvSpPr>
          <p:cNvPr id="29" name="Text 26"/>
          <p:cNvSpPr txBox="1"/>
          <p:nvPr/>
        </p:nvSpPr>
        <p:spPr>
          <a:xfrm>
            <a:off x="3319272" y="2267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7"/>
          <p:cNvSpPr txBox="1"/>
          <p:nvPr/>
        </p:nvSpPr>
        <p:spPr>
          <a:xfrm>
            <a:off x="3721608" y="226771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Intent Classification</a:t>
            </a:r>
            <a:endParaRPr lang="en-US" sz="1100" dirty="0"/>
          </a:p>
        </p:txBody>
      </p:sp>
      <p:sp>
        <p:nvSpPr>
          <p:cNvPr id="31" name="Text 28"/>
          <p:cNvSpPr txBox="1"/>
          <p:nvPr/>
        </p:nvSpPr>
        <p:spPr>
          <a:xfrm>
            <a:off x="3319272" y="265176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A trained classifier predicts the intent or category of the message.</a:t>
            </a:r>
            <a:endParaRPr lang="en-US" sz="950" dirty="0"/>
          </a:p>
        </p:txBody>
      </p:sp>
      <p:sp>
        <p:nvSpPr>
          <p:cNvPr id="32" name="Shape 29"/>
          <p:cNvSpPr/>
          <p:nvPr/>
        </p:nvSpPr>
        <p:spPr>
          <a:xfrm>
            <a:off x="5897880" y="2761488"/>
            <a:ext cx="228600" cy="0"/>
          </a:xfrm>
          <a:prstGeom prst="line">
            <a:avLst/>
          </a:prstGeom>
          <a:noFill/>
          <a:ln w="22225">
            <a:solidFill>
              <a:srgbClr val="00A5C7"/>
            </a:solidFill>
            <a:prstDash val="solid"/>
            <a:tailEnd type="triangle"/>
          </a:ln>
        </p:spPr>
      </p:sp>
      <p:sp>
        <p:nvSpPr>
          <p:cNvPr id="33" name="Shape 30"/>
          <p:cNvSpPr/>
          <p:nvPr/>
        </p:nvSpPr>
        <p:spPr>
          <a:xfrm>
            <a:off x="6126480" y="2194560"/>
            <a:ext cx="2651760" cy="1143000"/>
          </a:xfrm>
          <a:prstGeom prst="rect">
            <a:avLst/>
          </a:prstGeom>
          <a:solidFill>
            <a:srgbClr val="FFFFFF"/>
          </a:solidFill>
          <a:ln w="12700">
            <a:solidFill>
              <a:srgbClr val="BFE3EE"/>
            </a:solidFill>
            <a:prstDash val="solid"/>
          </a:ln>
        </p:spPr>
      </p:sp>
      <p:sp>
        <p:nvSpPr>
          <p:cNvPr id="34" name="Shape 31"/>
          <p:cNvSpPr/>
          <p:nvPr/>
        </p:nvSpPr>
        <p:spPr>
          <a:xfrm>
            <a:off x="6199632" y="2267712"/>
            <a:ext cx="347472" cy="347472"/>
          </a:xfrm>
          <a:prstGeom prst="ellipse">
            <a:avLst/>
          </a:prstGeom>
          <a:solidFill>
            <a:srgbClr val="12305C"/>
          </a:solidFill>
          <a:ln w="12700">
            <a:solidFill>
              <a:srgbClr val="FFFFFF"/>
            </a:solidFill>
            <a:prstDash val="solid"/>
          </a:ln>
        </p:spPr>
      </p:sp>
      <p:sp>
        <p:nvSpPr>
          <p:cNvPr id="35" name="Text 32"/>
          <p:cNvSpPr txBox="1"/>
          <p:nvPr/>
        </p:nvSpPr>
        <p:spPr>
          <a:xfrm>
            <a:off x="6199632" y="2267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txBox="1"/>
          <p:nvPr/>
        </p:nvSpPr>
        <p:spPr>
          <a:xfrm>
            <a:off x="6601968" y="226771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Response Generation</a:t>
            </a:r>
            <a:endParaRPr lang="en-US" sz="1100" dirty="0"/>
          </a:p>
        </p:txBody>
      </p:sp>
      <p:sp>
        <p:nvSpPr>
          <p:cNvPr id="37" name="Text 34"/>
          <p:cNvSpPr txBox="1"/>
          <p:nvPr/>
        </p:nvSpPr>
        <p:spPr>
          <a:xfrm>
            <a:off x="6199632" y="265176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The chatbot selects an appropriate response for the identified intent.</a:t>
            </a:r>
            <a:endParaRPr lang="en-US" sz="950" dirty="0"/>
          </a:p>
        </p:txBody>
      </p:sp>
      <p:sp>
        <p:nvSpPr>
          <p:cNvPr id="38" name="Shape 35"/>
          <p:cNvSpPr/>
          <p:nvPr/>
        </p:nvSpPr>
        <p:spPr>
          <a:xfrm>
            <a:off x="365760" y="3474720"/>
            <a:ext cx="2651760" cy="1143000"/>
          </a:xfrm>
          <a:prstGeom prst="rect">
            <a:avLst/>
          </a:prstGeom>
          <a:solidFill>
            <a:srgbClr val="FFFFFF"/>
          </a:solidFill>
          <a:ln w="12700">
            <a:solidFill>
              <a:srgbClr val="BFE3EE"/>
            </a:solidFill>
            <a:prstDash val="solid"/>
          </a:ln>
        </p:spPr>
      </p:sp>
      <p:sp>
        <p:nvSpPr>
          <p:cNvPr id="39" name="Shape 36"/>
          <p:cNvSpPr/>
          <p:nvPr/>
        </p:nvSpPr>
        <p:spPr>
          <a:xfrm>
            <a:off x="438912" y="3547872"/>
            <a:ext cx="347472" cy="347472"/>
          </a:xfrm>
          <a:prstGeom prst="ellipse">
            <a:avLst/>
          </a:prstGeom>
          <a:solidFill>
            <a:srgbClr val="F5A623"/>
          </a:solidFill>
          <a:ln w="12700">
            <a:solidFill>
              <a:srgbClr val="FFFFFF"/>
            </a:solidFill>
            <a:prstDash val="solid"/>
          </a:ln>
        </p:spPr>
      </p:sp>
      <p:sp>
        <p:nvSpPr>
          <p:cNvPr id="40" name="Text 37"/>
          <p:cNvSpPr txBox="1"/>
          <p:nvPr/>
        </p:nvSpPr>
        <p:spPr>
          <a:xfrm>
            <a:off x="438912" y="3547872"/>
            <a:ext cx="347472" cy="347472"/>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7</a:t>
            </a:r>
            <a:endParaRPr lang="en-US" sz="1200" dirty="0"/>
          </a:p>
        </p:txBody>
      </p:sp>
      <p:sp>
        <p:nvSpPr>
          <p:cNvPr id="41" name="Text 38"/>
          <p:cNvSpPr txBox="1"/>
          <p:nvPr/>
        </p:nvSpPr>
        <p:spPr>
          <a:xfrm>
            <a:off x="841248" y="354787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Fallback and Escalation</a:t>
            </a:r>
            <a:endParaRPr lang="en-US" sz="1100" dirty="0"/>
          </a:p>
        </p:txBody>
      </p:sp>
      <p:sp>
        <p:nvSpPr>
          <p:cNvPr id="42" name="Text 39"/>
          <p:cNvSpPr txBox="1"/>
          <p:nvPr/>
        </p:nvSpPr>
        <p:spPr>
          <a:xfrm>
            <a:off x="438912" y="393192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Uncertain or complex queries get a fallback response or are routed to human support.</a:t>
            </a:r>
            <a:endParaRPr lang="en-US" sz="950" dirty="0"/>
          </a:p>
        </p:txBody>
      </p:sp>
      <p:sp>
        <p:nvSpPr>
          <p:cNvPr id="43" name="Shape 40"/>
          <p:cNvSpPr/>
          <p:nvPr/>
        </p:nvSpPr>
        <p:spPr>
          <a:xfrm>
            <a:off x="3017520" y="4041648"/>
            <a:ext cx="228600" cy="0"/>
          </a:xfrm>
          <a:prstGeom prst="line">
            <a:avLst/>
          </a:prstGeom>
          <a:noFill/>
          <a:ln w="22225">
            <a:solidFill>
              <a:srgbClr val="00A5C7"/>
            </a:solidFill>
            <a:prstDash val="solid"/>
            <a:tailEnd type="triangle"/>
          </a:ln>
        </p:spPr>
      </p:sp>
      <p:sp>
        <p:nvSpPr>
          <p:cNvPr id="44" name="Shape 41"/>
          <p:cNvSpPr/>
          <p:nvPr/>
        </p:nvSpPr>
        <p:spPr>
          <a:xfrm>
            <a:off x="3246120" y="3474720"/>
            <a:ext cx="2651760" cy="1143000"/>
          </a:xfrm>
          <a:prstGeom prst="rect">
            <a:avLst/>
          </a:prstGeom>
          <a:solidFill>
            <a:srgbClr val="FFFFFF"/>
          </a:solidFill>
          <a:ln w="12700">
            <a:solidFill>
              <a:srgbClr val="BFE3EE"/>
            </a:solidFill>
            <a:prstDash val="solid"/>
          </a:ln>
        </p:spPr>
      </p:sp>
      <p:sp>
        <p:nvSpPr>
          <p:cNvPr id="45" name="Shape 42"/>
          <p:cNvSpPr/>
          <p:nvPr/>
        </p:nvSpPr>
        <p:spPr>
          <a:xfrm>
            <a:off x="3319272" y="3547872"/>
            <a:ext cx="347472" cy="347472"/>
          </a:xfrm>
          <a:prstGeom prst="ellipse">
            <a:avLst/>
          </a:prstGeom>
          <a:solidFill>
            <a:srgbClr val="12305C"/>
          </a:solidFill>
          <a:ln w="12700">
            <a:solidFill>
              <a:srgbClr val="FFFFFF"/>
            </a:solidFill>
            <a:prstDash val="solid"/>
          </a:ln>
        </p:spPr>
      </p:sp>
      <p:sp>
        <p:nvSpPr>
          <p:cNvPr id="46" name="Text 43"/>
          <p:cNvSpPr txBox="1"/>
          <p:nvPr/>
        </p:nvSpPr>
        <p:spPr>
          <a:xfrm>
            <a:off x="3319272" y="35478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7" name="Text 44"/>
          <p:cNvSpPr txBox="1"/>
          <p:nvPr/>
        </p:nvSpPr>
        <p:spPr>
          <a:xfrm>
            <a:off x="3721608" y="354787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Conversation Storage</a:t>
            </a:r>
            <a:endParaRPr lang="en-US" sz="1100" dirty="0"/>
          </a:p>
        </p:txBody>
      </p:sp>
      <p:sp>
        <p:nvSpPr>
          <p:cNvPr id="48" name="Text 45"/>
          <p:cNvSpPr txBox="1"/>
          <p:nvPr/>
        </p:nvSpPr>
        <p:spPr>
          <a:xfrm>
            <a:off x="3319272" y="393192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Relevant conversation details are stored for recordkeeping and later analysis.</a:t>
            </a:r>
            <a:endParaRPr lang="en-US" sz="950" dirty="0"/>
          </a:p>
        </p:txBody>
      </p:sp>
      <p:sp>
        <p:nvSpPr>
          <p:cNvPr id="49" name="Shape 46"/>
          <p:cNvSpPr/>
          <p:nvPr/>
        </p:nvSpPr>
        <p:spPr>
          <a:xfrm>
            <a:off x="5897880" y="4041648"/>
            <a:ext cx="228600" cy="0"/>
          </a:xfrm>
          <a:prstGeom prst="line">
            <a:avLst/>
          </a:prstGeom>
          <a:noFill/>
          <a:ln w="22225">
            <a:solidFill>
              <a:srgbClr val="00A5C7"/>
            </a:solidFill>
            <a:prstDash val="solid"/>
            <a:tailEnd type="triangle"/>
          </a:ln>
        </p:spPr>
      </p:sp>
      <p:sp>
        <p:nvSpPr>
          <p:cNvPr id="50" name="Shape 47"/>
          <p:cNvSpPr/>
          <p:nvPr/>
        </p:nvSpPr>
        <p:spPr>
          <a:xfrm>
            <a:off x="6126480" y="3474720"/>
            <a:ext cx="2651760" cy="1143000"/>
          </a:xfrm>
          <a:prstGeom prst="rect">
            <a:avLst/>
          </a:prstGeom>
          <a:solidFill>
            <a:srgbClr val="FFFFFF"/>
          </a:solidFill>
          <a:ln w="12700">
            <a:solidFill>
              <a:srgbClr val="BFE3EE"/>
            </a:solidFill>
            <a:prstDash val="solid"/>
          </a:ln>
        </p:spPr>
      </p:sp>
      <p:sp>
        <p:nvSpPr>
          <p:cNvPr id="51" name="Shape 48"/>
          <p:cNvSpPr/>
          <p:nvPr/>
        </p:nvSpPr>
        <p:spPr>
          <a:xfrm>
            <a:off x="6199632" y="3547872"/>
            <a:ext cx="347472" cy="347472"/>
          </a:xfrm>
          <a:prstGeom prst="ellipse">
            <a:avLst/>
          </a:prstGeom>
          <a:solidFill>
            <a:srgbClr val="12305C"/>
          </a:solidFill>
          <a:ln w="12700">
            <a:solidFill>
              <a:srgbClr val="FFFFFF"/>
            </a:solidFill>
            <a:prstDash val="solid"/>
          </a:ln>
        </p:spPr>
      </p:sp>
      <p:sp>
        <p:nvSpPr>
          <p:cNvPr id="52" name="Text 49"/>
          <p:cNvSpPr txBox="1"/>
          <p:nvPr/>
        </p:nvSpPr>
        <p:spPr>
          <a:xfrm>
            <a:off x="6199632" y="35478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3" name="Text 50"/>
          <p:cNvSpPr txBox="1"/>
          <p:nvPr/>
        </p:nvSpPr>
        <p:spPr>
          <a:xfrm>
            <a:off x="6601968" y="3547872"/>
            <a:ext cx="2148840" cy="347472"/>
          </a:xfrm>
          <a:prstGeom prst="rect">
            <a:avLst/>
          </a:prstGeom>
          <a:noFill/>
          <a:ln/>
        </p:spPr>
        <p:txBody>
          <a:bodyPr wrap="square" lIns="635" tIns="635" rIns="635" bIns="635" rtlCol="0" anchor="ctr"/>
          <a:lstStyle/>
          <a:p>
            <a:pPr indent="0" marL="0">
              <a:buNone/>
            </a:pPr>
            <a:r>
              <a:rPr lang="en-US" sz="1100" b="1" dirty="0">
                <a:solidFill>
                  <a:srgbClr val="12305C"/>
                </a:solidFill>
                <a:latin typeface="Calibri" pitchFamily="34" charset="0"/>
                <a:ea typeface="Calibri" pitchFamily="34" charset="-122"/>
                <a:cs typeface="Calibri" pitchFamily="34" charset="-120"/>
              </a:rPr>
              <a:t>Administration</a:t>
            </a:r>
            <a:endParaRPr lang="en-US" sz="1100" dirty="0"/>
          </a:p>
        </p:txBody>
      </p:sp>
      <p:sp>
        <p:nvSpPr>
          <p:cNvPr id="54" name="Text 51"/>
          <p:cNvSpPr txBox="1"/>
          <p:nvPr/>
        </p:nvSpPr>
        <p:spPr>
          <a:xfrm>
            <a:off x="6199632" y="3931920"/>
            <a:ext cx="2514600" cy="658368"/>
          </a:xfrm>
          <a:prstGeom prst="rect">
            <a:avLst/>
          </a:prstGeom>
          <a:noFill/>
          <a:ln/>
        </p:spPr>
        <p:txBody>
          <a:bodyPr wrap="square" lIns="635" tIns="635" rIns="635" bIns="635" rtlCol="0" anchor="t"/>
          <a:lstStyle/>
          <a:p>
            <a:pPr indent="0" marL="0">
              <a:buNone/>
            </a:pPr>
            <a:r>
              <a:rPr lang="en-US" sz="950" dirty="0">
                <a:solidFill>
                  <a:srgbClr val="1F2A3C"/>
                </a:solidFill>
                <a:latin typeface="Calibri" pitchFamily="34" charset="0"/>
                <a:ea typeface="Calibri" pitchFamily="34" charset="-122"/>
                <a:cs typeface="Calibri" pitchFamily="34" charset="-120"/>
              </a:rPr>
              <a:t>Supports conversation review, intent management, training-phrase updates and retraining where implemented.</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Algorithm and Working Process</a:t>
            </a:r>
            <a:endParaRPr lang="en-US" sz="2200" dirty="0"/>
          </a:p>
        </p:txBody>
      </p:sp>
      <p:sp>
        <p:nvSpPr>
          <p:cNvPr id="4" name="Text 1"/>
          <p:cNvSpPr txBox="1"/>
          <p:nvPr/>
        </p:nvSpPr>
        <p:spPr>
          <a:xfrm>
            <a:off x="365760" y="841248"/>
            <a:ext cx="4023360" cy="274320"/>
          </a:xfrm>
          <a:prstGeom prst="rect">
            <a:avLst/>
          </a:prstGeom>
          <a:noFill/>
          <a:ln/>
        </p:spPr>
        <p:txBody>
          <a:bodyPr wrap="square" lIns="635" tIns="635" rIns="635" bIns="635" rtlCol="0" anchor="t"/>
          <a:lstStyle/>
          <a:p>
            <a:pPr indent="0" marL="0">
              <a:buNone/>
            </a:pPr>
            <a:r>
              <a:rPr lang="en-US" sz="1200" b="1" dirty="0">
                <a:solidFill>
                  <a:srgbClr val="12305C"/>
                </a:solidFill>
                <a:latin typeface="Calibri" pitchFamily="34" charset="0"/>
                <a:ea typeface="Calibri" pitchFamily="34" charset="-122"/>
                <a:cs typeface="Calibri" pitchFamily="34" charset="-120"/>
              </a:rPr>
              <a:t>Algorithm</a:t>
            </a:r>
            <a:endParaRPr lang="en-US" sz="1200" dirty="0"/>
          </a:p>
        </p:txBody>
      </p:sp>
      <p:sp>
        <p:nvSpPr>
          <p:cNvPr id="5" name="Shape 2"/>
          <p:cNvSpPr/>
          <p:nvPr/>
        </p:nvSpPr>
        <p:spPr>
          <a:xfrm>
            <a:off x="365760" y="1115568"/>
            <a:ext cx="4114800" cy="2651760"/>
          </a:xfrm>
          <a:prstGeom prst="rect">
            <a:avLst/>
          </a:prstGeom>
          <a:solidFill>
            <a:srgbClr val="0B1F3A"/>
          </a:solidFill>
          <a:ln w="12700">
            <a:solidFill>
              <a:srgbClr val="00B8D9"/>
            </a:solidFill>
            <a:prstDash val="solid"/>
          </a:ln>
        </p:spPr>
      </p:sp>
      <p:sp>
        <p:nvSpPr>
          <p:cNvPr id="6" name="Text 3"/>
          <p:cNvSpPr txBox="1"/>
          <p:nvPr/>
        </p:nvSpPr>
        <p:spPr>
          <a:xfrm>
            <a:off x="457200" y="1161288"/>
            <a:ext cx="3931920" cy="2560320"/>
          </a:xfrm>
          <a:prstGeom prst="rect">
            <a:avLst/>
          </a:prstGeom>
          <a:noFill/>
          <a:ln/>
        </p:spPr>
        <p:txBody>
          <a:bodyPr wrap="square" lIns="635" tIns="635" rIns="635" bIns="635" rtlCol="0" anchor="t"/>
          <a:lstStyle/>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  Start the chatbot system.</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2.  Receive a message from the customer.</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3.  Validate the input.</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4.  If the message is empty, request valid input.</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5.  Preprocess the message using NLP techniques.</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6.  Transform it into TF-IDF features.</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7.  Pass the features to the trained classifier.</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8.  Predict intent and confidence, where supported.</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9.  Compare the confidence with the configured threshold.</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10.  If sufficient, select the predicted intent's response.</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11.  If insufficient, fallback response or human escalation.</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12.  Return the response to the customer.</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13.  Store the conversation details in the database.</a:t>
            </a:r>
            <a:endParaRPr lang="en-US" sz="900" dirty="0"/>
          </a:p>
          <a:p>
            <a:pPr indent="0" marL="0">
              <a:spcAft>
                <a:spcPts val="150"/>
              </a:spcAft>
              <a:buNone/>
            </a:pPr>
            <a:r>
              <a:rPr lang="en-US" sz="900" dirty="0">
                <a:solidFill>
                  <a:srgbClr val="FFFFFF"/>
                </a:solidFill>
                <a:latin typeface="Consolas" pitchFamily="34" charset="0"/>
                <a:ea typeface="Consolas" pitchFamily="34" charset="-122"/>
                <a:cs typeface="Consolas" pitchFamily="34" charset="-120"/>
              </a:rPr>
              <a:t>14.  Repeat for the next customer message.</a:t>
            </a:r>
            <a:endParaRPr lang="en-US" sz="900" dirty="0"/>
          </a:p>
        </p:txBody>
      </p:sp>
      <p:sp>
        <p:nvSpPr>
          <p:cNvPr id="7" name="Shape 4"/>
          <p:cNvSpPr/>
          <p:nvPr/>
        </p:nvSpPr>
        <p:spPr>
          <a:xfrm>
            <a:off x="365760" y="3840480"/>
            <a:ext cx="4114800" cy="896112"/>
          </a:xfrm>
          <a:prstGeom prst="rect">
            <a:avLst/>
          </a:prstGeom>
          <a:solidFill>
            <a:srgbClr val="FFFFFF"/>
          </a:solidFill>
          <a:ln w="12700">
            <a:solidFill>
              <a:srgbClr val="BFE3EE"/>
            </a:solidFill>
            <a:prstDash val="solid"/>
          </a:ln>
        </p:spPr>
      </p:sp>
      <p:sp>
        <p:nvSpPr>
          <p:cNvPr id="8" name="Shape 5"/>
          <p:cNvSpPr/>
          <p:nvPr/>
        </p:nvSpPr>
        <p:spPr>
          <a:xfrm>
            <a:off x="365760" y="3840480"/>
            <a:ext cx="4114800" cy="274320"/>
          </a:xfrm>
          <a:prstGeom prst="rect">
            <a:avLst/>
          </a:prstGeom>
          <a:solidFill>
            <a:srgbClr val="0E7C86"/>
          </a:solidFill>
          <a:ln w="12700">
            <a:solidFill>
              <a:srgbClr val="0E7C86"/>
            </a:solidFill>
            <a:prstDash val="solid"/>
          </a:ln>
        </p:spPr>
      </p:sp>
      <p:sp>
        <p:nvSpPr>
          <p:cNvPr id="9" name="Text 6"/>
          <p:cNvSpPr txBox="1"/>
          <p:nvPr/>
        </p:nvSpPr>
        <p:spPr>
          <a:xfrm>
            <a:off x="411480" y="3840480"/>
            <a:ext cx="402336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Working Example</a:t>
            </a:r>
            <a:endParaRPr lang="en-US" sz="1100" dirty="0"/>
          </a:p>
        </p:txBody>
      </p:sp>
      <p:sp>
        <p:nvSpPr>
          <p:cNvPr id="10" name="Text 7"/>
          <p:cNvSpPr txBox="1"/>
          <p:nvPr/>
        </p:nvSpPr>
        <p:spPr>
          <a:xfrm>
            <a:off x="411480" y="4160520"/>
            <a:ext cx="4023360" cy="530352"/>
          </a:xfrm>
          <a:prstGeom prst="rect">
            <a:avLst/>
          </a:prstGeom>
          <a:noFill/>
          <a:ln/>
        </p:spPr>
        <p:txBody>
          <a:bodyPr wrap="square" lIns="635" tIns="635" rIns="635" bIns="635" rtlCol="0" anchor="t"/>
          <a:lstStyle/>
          <a:p>
            <a:pPr indent="0" marL="0">
              <a:buNone/>
            </a:pPr>
            <a:endParaRPr lang="en-US" sz="950" dirty="0"/>
          </a:p>
        </p:txBody>
      </p:sp>
      <p:sp>
        <p:nvSpPr>
          <p:cNvPr id="11" name="Text 8"/>
          <p:cNvSpPr txBox="1"/>
          <p:nvPr/>
        </p:nvSpPr>
        <p:spPr>
          <a:xfrm>
            <a:off x="411480" y="4114800"/>
            <a:ext cx="4023360" cy="621792"/>
          </a:xfrm>
          <a:prstGeom prst="rect">
            <a:avLst/>
          </a:prstGeom>
          <a:noFill/>
          <a:ln/>
        </p:spPr>
        <p:txBody>
          <a:bodyPr wrap="square" lIns="635" tIns="635" rIns="635" bIns="635" rtlCol="0" anchor="t"/>
          <a:lstStyle/>
          <a:p>
            <a:pPr indent="0" marL="0">
              <a:buNone/>
            </a:pPr>
            <a:r>
              <a:rPr lang="en-US" sz="850" b="1" dirty="0">
                <a:solidFill>
                  <a:srgbClr val="1F2A3C"/>
                </a:solidFill>
                <a:latin typeface="Calibri" pitchFamily="34" charset="0"/>
                <a:ea typeface="Calibri" pitchFamily="34" charset="-122"/>
                <a:cs typeface="Calibri" pitchFamily="34" charset="-120"/>
              </a:rPr>
              <a:t>“Where is my order?” </a:t>
            </a:r>
            <a:pPr indent="0" marL="0">
              <a:buNone/>
            </a:pPr>
            <a:r>
              <a:rPr lang="en-US" sz="850" dirty="0">
                <a:solidFill>
                  <a:srgbClr val="1F2A3C"/>
                </a:solidFill>
                <a:latin typeface="Calibri" pitchFamily="34" charset="0"/>
                <a:ea typeface="Calibri" pitchFamily="34" charset="-122"/>
                <a:cs typeface="Calibri" pitchFamily="34" charset="-120"/>
              </a:rPr>
              <a:t>→ NLP preprocessing → TF-IDF features → intent predicted → order-status response selected. Actual order details depend on the data and integrations available.</a:t>
            </a:r>
            <a:endParaRPr lang="en-US" sz="850" dirty="0"/>
          </a:p>
        </p:txBody>
      </p:sp>
      <p:sp>
        <p:nvSpPr>
          <p:cNvPr id="12" name="Text 9"/>
          <p:cNvSpPr txBox="1"/>
          <p:nvPr/>
        </p:nvSpPr>
        <p:spPr>
          <a:xfrm>
            <a:off x="4754880" y="868680"/>
            <a:ext cx="1737360" cy="365760"/>
          </a:xfrm>
          <a:prstGeom prst="roundRect">
            <a:avLst>
              <a:gd name="adj" fmla="val 20000"/>
            </a:avLst>
          </a:prstGeom>
          <a:solidFill>
            <a:srgbClr val="12305C"/>
          </a:solidFill>
          <a:ln w="12700">
            <a:solidFill>
              <a:srgbClr val="12305C"/>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Receive customer message</a:t>
            </a:r>
            <a:endParaRPr lang="en-US" sz="900" dirty="0"/>
          </a:p>
        </p:txBody>
      </p:sp>
      <p:sp>
        <p:nvSpPr>
          <p:cNvPr id="13" name="Shape 10"/>
          <p:cNvSpPr/>
          <p:nvPr/>
        </p:nvSpPr>
        <p:spPr>
          <a:xfrm>
            <a:off x="4846320" y="1371600"/>
            <a:ext cx="1554480" cy="640080"/>
          </a:xfrm>
          <a:prstGeom prst="diamond">
            <a:avLst/>
          </a:prstGeom>
          <a:solidFill>
            <a:srgbClr val="FFFFFF"/>
          </a:solidFill>
          <a:ln w="19050">
            <a:solidFill>
              <a:srgbClr val="12305C"/>
            </a:solidFill>
            <a:prstDash val="solid"/>
          </a:ln>
        </p:spPr>
      </p:sp>
      <p:sp>
        <p:nvSpPr>
          <p:cNvPr id="14" name="Text 11"/>
          <p:cNvSpPr txBox="1"/>
          <p:nvPr/>
        </p:nvSpPr>
        <p:spPr>
          <a:xfrm>
            <a:off x="4846320" y="1371600"/>
            <a:ext cx="1554480" cy="640080"/>
          </a:xfrm>
          <a:prstGeom prst="rect">
            <a:avLst/>
          </a:prstGeom>
          <a:noFill/>
          <a:ln/>
        </p:spPr>
        <p:txBody>
          <a:bodyPr wrap="square" lIns="635" tIns="635" rIns="635" bIns="635"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Valid input?</a:t>
            </a:r>
            <a:endParaRPr lang="en-US" sz="900" dirty="0"/>
          </a:p>
        </p:txBody>
      </p:sp>
      <p:sp>
        <p:nvSpPr>
          <p:cNvPr id="15" name="Text 12"/>
          <p:cNvSpPr txBox="1"/>
          <p:nvPr/>
        </p:nvSpPr>
        <p:spPr>
          <a:xfrm>
            <a:off x="7223760" y="1463040"/>
            <a:ext cx="1554480" cy="457200"/>
          </a:xfrm>
          <a:prstGeom prst="roundRect">
            <a:avLst>
              <a:gd name="adj" fmla="val 16000"/>
            </a:avLst>
          </a:prstGeom>
          <a:solidFill>
            <a:srgbClr val="F5A623"/>
          </a:solidFill>
          <a:ln w="12700">
            <a:solidFill>
              <a:srgbClr val="F5A623"/>
            </a:solidFill>
          </a:ln>
        </p:spPr>
        <p:txBody>
          <a:bodyPr wrap="square" lIns="508" tIns="508" rIns="508" bIns="508"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Request valid input</a:t>
            </a:r>
            <a:endParaRPr lang="en-US" sz="900" dirty="0"/>
          </a:p>
        </p:txBody>
      </p:sp>
      <p:sp>
        <p:nvSpPr>
          <p:cNvPr id="16" name="Shape 13"/>
          <p:cNvSpPr/>
          <p:nvPr/>
        </p:nvSpPr>
        <p:spPr>
          <a:xfrm>
            <a:off x="6400800" y="1691640"/>
            <a:ext cx="822960" cy="0"/>
          </a:xfrm>
          <a:prstGeom prst="line">
            <a:avLst/>
          </a:prstGeom>
          <a:noFill/>
          <a:ln w="22225">
            <a:solidFill>
              <a:srgbClr val="F5A623"/>
            </a:solidFill>
            <a:prstDash val="solid"/>
            <a:tailEnd type="triangle"/>
          </a:ln>
        </p:spPr>
      </p:sp>
      <p:sp>
        <p:nvSpPr>
          <p:cNvPr id="17" name="Text 14"/>
          <p:cNvSpPr txBox="1"/>
          <p:nvPr/>
        </p:nvSpPr>
        <p:spPr>
          <a:xfrm>
            <a:off x="6537960" y="1463040"/>
            <a:ext cx="457200" cy="228600"/>
          </a:xfrm>
          <a:prstGeom prst="rect">
            <a:avLst/>
          </a:prstGeom>
          <a:noFill/>
          <a:ln/>
        </p:spPr>
        <p:txBody>
          <a:bodyPr wrap="square" lIns="635" tIns="635" rIns="635" bIns="635" rtlCol="0" anchor="t"/>
          <a:lstStyle/>
          <a:p>
            <a:pPr indent="0" marL="0">
              <a:buNone/>
            </a:pPr>
            <a:r>
              <a:rPr lang="en-US" sz="800" b="1" dirty="0">
                <a:solidFill>
                  <a:srgbClr val="B9770E"/>
                </a:solidFill>
                <a:latin typeface="Calibri" pitchFamily="34" charset="0"/>
                <a:ea typeface="Calibri" pitchFamily="34" charset="-122"/>
                <a:cs typeface="Calibri" pitchFamily="34" charset="-120"/>
              </a:rPr>
              <a:t>No</a:t>
            </a:r>
            <a:endParaRPr lang="en-US" sz="800" dirty="0"/>
          </a:p>
        </p:txBody>
      </p:sp>
      <p:sp>
        <p:nvSpPr>
          <p:cNvPr id="18" name="Text 15"/>
          <p:cNvSpPr txBox="1"/>
          <p:nvPr/>
        </p:nvSpPr>
        <p:spPr>
          <a:xfrm>
            <a:off x="4754880" y="2194560"/>
            <a:ext cx="1737360" cy="365760"/>
          </a:xfrm>
          <a:prstGeom prst="roundRect">
            <a:avLst>
              <a:gd name="adj" fmla="val 20000"/>
            </a:avLst>
          </a:prstGeom>
          <a:solidFill>
            <a:srgbClr val="12305C"/>
          </a:solidFill>
          <a:ln w="12700">
            <a:solidFill>
              <a:srgbClr val="12305C"/>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NLP preprocessing + TF-IDF</a:t>
            </a:r>
            <a:endParaRPr lang="en-US" sz="900" dirty="0"/>
          </a:p>
        </p:txBody>
      </p:sp>
      <p:sp>
        <p:nvSpPr>
          <p:cNvPr id="19" name="Text 16"/>
          <p:cNvSpPr txBox="1"/>
          <p:nvPr/>
        </p:nvSpPr>
        <p:spPr>
          <a:xfrm>
            <a:off x="4754880" y="2697480"/>
            <a:ext cx="1737360" cy="365760"/>
          </a:xfrm>
          <a:prstGeom prst="roundRect">
            <a:avLst>
              <a:gd name="adj" fmla="val 20000"/>
            </a:avLst>
          </a:prstGeom>
          <a:solidFill>
            <a:srgbClr val="12305C"/>
          </a:solidFill>
          <a:ln w="12700">
            <a:solidFill>
              <a:srgbClr val="12305C"/>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Classifier: intent + confidence</a:t>
            </a:r>
            <a:endParaRPr lang="en-US" sz="900" dirty="0"/>
          </a:p>
        </p:txBody>
      </p:sp>
      <p:sp>
        <p:nvSpPr>
          <p:cNvPr id="20" name="Shape 17"/>
          <p:cNvSpPr/>
          <p:nvPr/>
        </p:nvSpPr>
        <p:spPr>
          <a:xfrm>
            <a:off x="4754880" y="3200400"/>
            <a:ext cx="1737360" cy="731520"/>
          </a:xfrm>
          <a:prstGeom prst="diamond">
            <a:avLst/>
          </a:prstGeom>
          <a:solidFill>
            <a:srgbClr val="FFFFFF"/>
          </a:solidFill>
          <a:ln w="19050">
            <a:solidFill>
              <a:srgbClr val="12305C"/>
            </a:solidFill>
            <a:prstDash val="solid"/>
          </a:ln>
        </p:spPr>
      </p:sp>
      <p:sp>
        <p:nvSpPr>
          <p:cNvPr id="21" name="Text 18"/>
          <p:cNvSpPr txBox="1"/>
          <p:nvPr/>
        </p:nvSpPr>
        <p:spPr>
          <a:xfrm>
            <a:off x="4937760" y="3200400"/>
            <a:ext cx="1371600" cy="731520"/>
          </a:xfrm>
          <a:prstGeom prst="rect">
            <a:avLst/>
          </a:prstGeom>
          <a:noFill/>
          <a:ln/>
        </p:spPr>
        <p:txBody>
          <a:bodyPr wrap="square" lIns="635" tIns="635" rIns="635" bIns="635" rtlCol="0" anchor="ctr"/>
          <a:lstStyle/>
          <a:p>
            <a:pPr algn="ctr" indent="0" marL="0">
              <a:buNone/>
            </a:pPr>
            <a:r>
              <a:rPr lang="en-US" sz="850" b="1" dirty="0">
                <a:solidFill>
                  <a:srgbClr val="0B1F3A"/>
                </a:solidFill>
                <a:latin typeface="Calibri" pitchFamily="34" charset="0"/>
                <a:ea typeface="Calibri" pitchFamily="34" charset="-122"/>
                <a:cs typeface="Calibri" pitchFamily="34" charset="-120"/>
              </a:rPr>
              <a:t>Confidence ≥ threshold?</a:t>
            </a:r>
            <a:endParaRPr lang="en-US" sz="850" dirty="0"/>
          </a:p>
        </p:txBody>
      </p:sp>
      <p:sp>
        <p:nvSpPr>
          <p:cNvPr id="22" name="Text 19"/>
          <p:cNvSpPr txBox="1"/>
          <p:nvPr/>
        </p:nvSpPr>
        <p:spPr>
          <a:xfrm>
            <a:off x="4754880" y="4069080"/>
            <a:ext cx="1737360" cy="320040"/>
          </a:xfrm>
          <a:prstGeom prst="roundRect">
            <a:avLst>
              <a:gd name="adj" fmla="val 22857"/>
            </a:avLst>
          </a:prstGeom>
          <a:solidFill>
            <a:srgbClr val="0E7C86"/>
          </a:solidFill>
          <a:ln w="12700">
            <a:solidFill>
              <a:srgbClr val="0E7C86"/>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Select intent response</a:t>
            </a:r>
            <a:endParaRPr lang="en-US" sz="900" dirty="0"/>
          </a:p>
        </p:txBody>
      </p:sp>
      <p:sp>
        <p:nvSpPr>
          <p:cNvPr id="23" name="Text 20"/>
          <p:cNvSpPr txBox="1"/>
          <p:nvPr/>
        </p:nvSpPr>
        <p:spPr>
          <a:xfrm>
            <a:off x="7223760" y="3291840"/>
            <a:ext cx="1554480" cy="548640"/>
          </a:xfrm>
          <a:prstGeom prst="roundRect">
            <a:avLst>
              <a:gd name="adj" fmla="val 13333"/>
            </a:avLst>
          </a:prstGeom>
          <a:solidFill>
            <a:srgbClr val="F5A623"/>
          </a:solidFill>
          <a:ln w="12700">
            <a:solidFill>
              <a:srgbClr val="F5A623"/>
            </a:solidFill>
          </a:ln>
        </p:spPr>
        <p:txBody>
          <a:bodyPr wrap="square" lIns="508" tIns="508" rIns="508" bIns="508"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Fallback response / human escalation</a:t>
            </a:r>
            <a:endParaRPr lang="en-US" sz="900" dirty="0"/>
          </a:p>
        </p:txBody>
      </p:sp>
      <p:sp>
        <p:nvSpPr>
          <p:cNvPr id="24" name="Shape 21"/>
          <p:cNvSpPr/>
          <p:nvPr/>
        </p:nvSpPr>
        <p:spPr>
          <a:xfrm>
            <a:off x="6492240" y="3566160"/>
            <a:ext cx="731520" cy="0"/>
          </a:xfrm>
          <a:prstGeom prst="line">
            <a:avLst/>
          </a:prstGeom>
          <a:noFill/>
          <a:ln w="22225">
            <a:solidFill>
              <a:srgbClr val="F5A623"/>
            </a:solidFill>
            <a:prstDash val="solid"/>
            <a:tailEnd type="triangle"/>
          </a:ln>
        </p:spPr>
      </p:sp>
      <p:sp>
        <p:nvSpPr>
          <p:cNvPr id="25" name="Text 22"/>
          <p:cNvSpPr txBox="1"/>
          <p:nvPr/>
        </p:nvSpPr>
        <p:spPr>
          <a:xfrm>
            <a:off x="6583680" y="3337560"/>
            <a:ext cx="457200" cy="228600"/>
          </a:xfrm>
          <a:prstGeom prst="rect">
            <a:avLst/>
          </a:prstGeom>
          <a:noFill/>
          <a:ln/>
        </p:spPr>
        <p:txBody>
          <a:bodyPr wrap="square" lIns="635" tIns="635" rIns="635" bIns="635" rtlCol="0" anchor="t"/>
          <a:lstStyle/>
          <a:p>
            <a:pPr indent="0" marL="0">
              <a:buNone/>
            </a:pPr>
            <a:r>
              <a:rPr lang="en-US" sz="800" b="1" dirty="0">
                <a:solidFill>
                  <a:srgbClr val="B9770E"/>
                </a:solidFill>
                <a:latin typeface="Calibri" pitchFamily="34" charset="0"/>
                <a:ea typeface="Calibri" pitchFamily="34" charset="-122"/>
                <a:cs typeface="Calibri" pitchFamily="34" charset="-120"/>
              </a:rPr>
              <a:t>No</a:t>
            </a:r>
            <a:endParaRPr lang="en-US" sz="800" dirty="0"/>
          </a:p>
        </p:txBody>
      </p:sp>
      <p:sp>
        <p:nvSpPr>
          <p:cNvPr id="26" name="Text 23"/>
          <p:cNvSpPr txBox="1"/>
          <p:nvPr/>
        </p:nvSpPr>
        <p:spPr>
          <a:xfrm>
            <a:off x="4754880" y="4498848"/>
            <a:ext cx="1737360" cy="274320"/>
          </a:xfrm>
          <a:prstGeom prst="roundRect">
            <a:avLst>
              <a:gd name="adj" fmla="val 26667"/>
            </a:avLst>
          </a:prstGeom>
          <a:solidFill>
            <a:srgbClr val="00A5C7"/>
          </a:solidFill>
          <a:ln w="12700">
            <a:solidFill>
              <a:srgbClr val="00A5C7"/>
            </a:solidFill>
          </a:ln>
        </p:spPr>
        <p:txBody>
          <a:bodyPr wrap="square" lIns="508" tIns="508" rIns="508" bIns="508"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Return response + store in DB</a:t>
            </a:r>
            <a:endParaRPr lang="en-US" sz="900" dirty="0"/>
          </a:p>
        </p:txBody>
      </p:sp>
      <p:sp>
        <p:nvSpPr>
          <p:cNvPr id="27" name="Shape 24"/>
          <p:cNvSpPr/>
          <p:nvPr/>
        </p:nvSpPr>
        <p:spPr>
          <a:xfrm>
            <a:off x="5623560" y="1234440"/>
            <a:ext cx="0" cy="137160"/>
          </a:xfrm>
          <a:prstGeom prst="line">
            <a:avLst/>
          </a:prstGeom>
          <a:noFill/>
          <a:ln w="22225">
            <a:solidFill>
              <a:srgbClr val="00A5C7"/>
            </a:solidFill>
            <a:prstDash val="solid"/>
            <a:tailEnd type="triangle"/>
          </a:ln>
        </p:spPr>
      </p:sp>
      <p:sp>
        <p:nvSpPr>
          <p:cNvPr id="28" name="Shape 25"/>
          <p:cNvSpPr/>
          <p:nvPr/>
        </p:nvSpPr>
        <p:spPr>
          <a:xfrm>
            <a:off x="5623560" y="2011680"/>
            <a:ext cx="0" cy="182880"/>
          </a:xfrm>
          <a:prstGeom prst="line">
            <a:avLst/>
          </a:prstGeom>
          <a:noFill/>
          <a:ln w="22225">
            <a:solidFill>
              <a:srgbClr val="00A5C7"/>
            </a:solidFill>
            <a:prstDash val="solid"/>
            <a:tailEnd type="triangle"/>
          </a:ln>
        </p:spPr>
      </p:sp>
      <p:sp>
        <p:nvSpPr>
          <p:cNvPr id="29" name="Shape 26"/>
          <p:cNvSpPr/>
          <p:nvPr/>
        </p:nvSpPr>
        <p:spPr>
          <a:xfrm>
            <a:off x="5623560" y="2560320"/>
            <a:ext cx="0" cy="137160"/>
          </a:xfrm>
          <a:prstGeom prst="line">
            <a:avLst/>
          </a:prstGeom>
          <a:noFill/>
          <a:ln w="22225">
            <a:solidFill>
              <a:srgbClr val="00A5C7"/>
            </a:solidFill>
            <a:prstDash val="solid"/>
            <a:tailEnd type="triangle"/>
          </a:ln>
        </p:spPr>
      </p:sp>
      <p:sp>
        <p:nvSpPr>
          <p:cNvPr id="30" name="Shape 27"/>
          <p:cNvSpPr/>
          <p:nvPr/>
        </p:nvSpPr>
        <p:spPr>
          <a:xfrm>
            <a:off x="5623560" y="3063240"/>
            <a:ext cx="0" cy="137160"/>
          </a:xfrm>
          <a:prstGeom prst="line">
            <a:avLst/>
          </a:prstGeom>
          <a:noFill/>
          <a:ln w="22225">
            <a:solidFill>
              <a:srgbClr val="00A5C7"/>
            </a:solidFill>
            <a:prstDash val="solid"/>
            <a:tailEnd type="triangle"/>
          </a:ln>
        </p:spPr>
      </p:sp>
      <p:sp>
        <p:nvSpPr>
          <p:cNvPr id="31" name="Shape 28"/>
          <p:cNvSpPr/>
          <p:nvPr/>
        </p:nvSpPr>
        <p:spPr>
          <a:xfrm>
            <a:off x="5623560" y="3931920"/>
            <a:ext cx="0" cy="137160"/>
          </a:xfrm>
          <a:prstGeom prst="line">
            <a:avLst/>
          </a:prstGeom>
          <a:noFill/>
          <a:ln w="22225">
            <a:solidFill>
              <a:srgbClr val="00A5C7"/>
            </a:solidFill>
            <a:prstDash val="solid"/>
            <a:tailEnd type="triangle"/>
          </a:ln>
        </p:spPr>
      </p:sp>
      <p:sp>
        <p:nvSpPr>
          <p:cNvPr id="32" name="Text 29"/>
          <p:cNvSpPr txBox="1"/>
          <p:nvPr/>
        </p:nvSpPr>
        <p:spPr>
          <a:xfrm>
            <a:off x="5669280" y="3913632"/>
            <a:ext cx="457200" cy="182880"/>
          </a:xfrm>
          <a:prstGeom prst="rect">
            <a:avLst/>
          </a:prstGeom>
          <a:noFill/>
          <a:ln/>
        </p:spPr>
        <p:txBody>
          <a:bodyPr wrap="square" lIns="635" tIns="635" rIns="635" bIns="635" rtlCol="0" anchor="t"/>
          <a:lstStyle/>
          <a:p>
            <a:pPr indent="0" marL="0">
              <a:buNone/>
            </a:pPr>
            <a:r>
              <a:rPr lang="en-US" sz="800" b="1" dirty="0">
                <a:solidFill>
                  <a:srgbClr val="0E7C86"/>
                </a:solidFill>
                <a:latin typeface="Calibri" pitchFamily="34" charset="0"/>
                <a:ea typeface="Calibri" pitchFamily="34" charset="-122"/>
                <a:cs typeface="Calibri" pitchFamily="34" charset="-120"/>
              </a:rPr>
              <a:t>Yes</a:t>
            </a:r>
            <a:endParaRPr lang="en-US" sz="800" dirty="0"/>
          </a:p>
        </p:txBody>
      </p:sp>
      <p:sp>
        <p:nvSpPr>
          <p:cNvPr id="33" name="Shape 30"/>
          <p:cNvSpPr/>
          <p:nvPr/>
        </p:nvSpPr>
        <p:spPr>
          <a:xfrm>
            <a:off x="5623560" y="4389120"/>
            <a:ext cx="0" cy="109728"/>
          </a:xfrm>
          <a:prstGeom prst="line">
            <a:avLst/>
          </a:prstGeom>
          <a:noFill/>
          <a:ln w="22225">
            <a:solidFill>
              <a:srgbClr val="00A5C7"/>
            </a:solidFill>
            <a:prstDash val="solid"/>
            <a:tailEnd type="triangle"/>
          </a:ln>
        </p:spPr>
      </p:sp>
      <p:sp>
        <p:nvSpPr>
          <p:cNvPr id="34" name="Shape 31"/>
          <p:cNvSpPr/>
          <p:nvPr/>
        </p:nvSpPr>
        <p:spPr>
          <a:xfrm>
            <a:off x="8001000" y="3840480"/>
            <a:ext cx="0" cy="795528"/>
          </a:xfrm>
          <a:prstGeom prst="line">
            <a:avLst/>
          </a:prstGeom>
          <a:noFill/>
          <a:ln w="22225">
            <a:solidFill>
              <a:srgbClr val="F5A623"/>
            </a:solidFill>
            <a:prstDash val="solid"/>
          </a:ln>
        </p:spPr>
      </p:sp>
      <p:sp>
        <p:nvSpPr>
          <p:cNvPr id="35" name="Shape 32"/>
          <p:cNvSpPr/>
          <p:nvPr/>
        </p:nvSpPr>
        <p:spPr>
          <a:xfrm flipH="1">
            <a:off x="6492240" y="4636008"/>
            <a:ext cx="1508760" cy="0"/>
          </a:xfrm>
          <a:prstGeom prst="line">
            <a:avLst/>
          </a:prstGeom>
          <a:noFill/>
          <a:ln w="22225">
            <a:solidFill>
              <a:srgbClr val="F5A623"/>
            </a:solidFill>
            <a:prstDash val="solid"/>
            <a:tailEnd type="triangle"/>
          </a:ln>
        </p:spPr>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Implementation and Sample Outputs</a:t>
            </a:r>
            <a:endParaRPr lang="en-US" sz="2200" dirty="0"/>
          </a:p>
        </p:txBody>
      </p:sp>
      <p:sp>
        <p:nvSpPr>
          <p:cNvPr id="4" name="Shape 1"/>
          <p:cNvSpPr/>
          <p:nvPr/>
        </p:nvSpPr>
        <p:spPr>
          <a:xfrm>
            <a:off x="365760" y="914400"/>
            <a:ext cx="2331720" cy="1600200"/>
          </a:xfrm>
          <a:prstGeom prst="rect">
            <a:avLst/>
          </a:prstGeom>
          <a:solidFill>
            <a:srgbClr val="FFFFFF"/>
          </a:solidFill>
          <a:ln w="12700">
            <a:solidFill>
              <a:srgbClr val="BFE3EE"/>
            </a:solidFill>
            <a:prstDash val="solid"/>
          </a:ln>
        </p:spPr>
      </p:sp>
      <p:sp>
        <p:nvSpPr>
          <p:cNvPr id="5" name="Shape 2"/>
          <p:cNvSpPr/>
          <p:nvPr/>
        </p:nvSpPr>
        <p:spPr>
          <a:xfrm>
            <a:off x="365760" y="914400"/>
            <a:ext cx="2331720" cy="274320"/>
          </a:xfrm>
          <a:prstGeom prst="rect">
            <a:avLst/>
          </a:prstGeom>
          <a:solidFill>
            <a:srgbClr val="12305C"/>
          </a:solidFill>
          <a:ln w="12700">
            <a:solidFill>
              <a:srgbClr val="12305C"/>
            </a:solidFill>
            <a:prstDash val="solid"/>
          </a:ln>
        </p:spPr>
      </p:sp>
      <p:sp>
        <p:nvSpPr>
          <p:cNvPr id="6" name="Text 3"/>
          <p:cNvSpPr txBox="1"/>
          <p:nvPr/>
        </p:nvSpPr>
        <p:spPr>
          <a:xfrm>
            <a:off x="411480" y="914400"/>
            <a:ext cx="22402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7" name="Text 4"/>
          <p:cNvSpPr txBox="1"/>
          <p:nvPr/>
        </p:nvSpPr>
        <p:spPr>
          <a:xfrm>
            <a:off x="411480" y="1234440"/>
            <a:ext cx="2240280" cy="123444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Chat interface for entering messages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Displays user and bot messages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HTML, CSS, JS styling and interactivity</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Responsive for different screens</a:t>
            </a:r>
            <a:endParaRPr lang="en-US" sz="850" dirty="0"/>
          </a:p>
        </p:txBody>
      </p:sp>
      <p:sp>
        <p:nvSpPr>
          <p:cNvPr id="8" name="Shape 5"/>
          <p:cNvSpPr/>
          <p:nvPr/>
        </p:nvSpPr>
        <p:spPr>
          <a:xfrm>
            <a:off x="2788920" y="914400"/>
            <a:ext cx="2331720" cy="1600200"/>
          </a:xfrm>
          <a:prstGeom prst="rect">
            <a:avLst/>
          </a:prstGeom>
          <a:solidFill>
            <a:srgbClr val="FFFFFF"/>
          </a:solidFill>
          <a:ln w="12700">
            <a:solidFill>
              <a:srgbClr val="BFE3EE"/>
            </a:solidFill>
            <a:prstDash val="solid"/>
          </a:ln>
        </p:spPr>
      </p:sp>
      <p:sp>
        <p:nvSpPr>
          <p:cNvPr id="9" name="Shape 6"/>
          <p:cNvSpPr/>
          <p:nvPr/>
        </p:nvSpPr>
        <p:spPr>
          <a:xfrm>
            <a:off x="2788920" y="914400"/>
            <a:ext cx="2331720" cy="274320"/>
          </a:xfrm>
          <a:prstGeom prst="rect">
            <a:avLst/>
          </a:prstGeom>
          <a:solidFill>
            <a:srgbClr val="0B1F3A"/>
          </a:solidFill>
          <a:ln w="12700">
            <a:solidFill>
              <a:srgbClr val="0B1F3A"/>
            </a:solidFill>
            <a:prstDash val="solid"/>
          </a:ln>
        </p:spPr>
      </p:sp>
      <p:sp>
        <p:nvSpPr>
          <p:cNvPr id="10" name="Text 7"/>
          <p:cNvSpPr txBox="1"/>
          <p:nvPr/>
        </p:nvSpPr>
        <p:spPr>
          <a:xfrm>
            <a:off x="2834640" y="914400"/>
            <a:ext cx="22402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11" name="Text 8"/>
          <p:cNvSpPr txBox="1"/>
          <p:nvPr/>
        </p:nvSpPr>
        <p:spPr>
          <a:xfrm>
            <a:off x="2834640" y="1234440"/>
            <a:ext cx="2240280" cy="123444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Flask manages incoming requests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Python handles chatbot logic</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Routes connect UI with NLP/ML</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Responses returned to frontend</a:t>
            </a:r>
            <a:endParaRPr lang="en-US" sz="850" dirty="0"/>
          </a:p>
        </p:txBody>
      </p:sp>
      <p:sp>
        <p:nvSpPr>
          <p:cNvPr id="12" name="Shape 9"/>
          <p:cNvSpPr/>
          <p:nvPr/>
        </p:nvSpPr>
        <p:spPr>
          <a:xfrm>
            <a:off x="365760" y="2606040"/>
            <a:ext cx="2331720" cy="1600200"/>
          </a:xfrm>
          <a:prstGeom prst="rect">
            <a:avLst/>
          </a:prstGeom>
          <a:solidFill>
            <a:srgbClr val="FFFFFF"/>
          </a:solidFill>
          <a:ln w="12700">
            <a:solidFill>
              <a:srgbClr val="BFE3EE"/>
            </a:solidFill>
            <a:prstDash val="solid"/>
          </a:ln>
        </p:spPr>
      </p:sp>
      <p:sp>
        <p:nvSpPr>
          <p:cNvPr id="13" name="Shape 10"/>
          <p:cNvSpPr/>
          <p:nvPr/>
        </p:nvSpPr>
        <p:spPr>
          <a:xfrm>
            <a:off x="365760" y="2606040"/>
            <a:ext cx="2331720" cy="274320"/>
          </a:xfrm>
          <a:prstGeom prst="rect">
            <a:avLst/>
          </a:prstGeom>
          <a:solidFill>
            <a:srgbClr val="0E7C86"/>
          </a:solidFill>
          <a:ln w="12700">
            <a:solidFill>
              <a:srgbClr val="0E7C86"/>
            </a:solidFill>
            <a:prstDash val="solid"/>
          </a:ln>
        </p:spPr>
      </p:sp>
      <p:sp>
        <p:nvSpPr>
          <p:cNvPr id="14" name="Text 11"/>
          <p:cNvSpPr txBox="1"/>
          <p:nvPr/>
        </p:nvSpPr>
        <p:spPr>
          <a:xfrm>
            <a:off x="411480" y="2606040"/>
            <a:ext cx="22402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NLP and ML</a:t>
            </a:r>
            <a:endParaRPr lang="en-US" sz="1100" dirty="0"/>
          </a:p>
        </p:txBody>
      </p:sp>
      <p:sp>
        <p:nvSpPr>
          <p:cNvPr id="15" name="Text 12"/>
          <p:cNvSpPr txBox="1"/>
          <p:nvPr/>
        </p:nvSpPr>
        <p:spPr>
          <a:xfrm>
            <a:off x="411480" y="2926080"/>
            <a:ext cx="2240280" cy="123444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NLTK supports preprocessing</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TF-IDF creates numeric features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Classifier identifies query intents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Logistic Regression / SVM mentioned in report</a:t>
            </a:r>
            <a:endParaRPr lang="en-US" sz="850" dirty="0"/>
          </a:p>
        </p:txBody>
      </p:sp>
      <p:sp>
        <p:nvSpPr>
          <p:cNvPr id="16" name="Shape 13"/>
          <p:cNvSpPr/>
          <p:nvPr/>
        </p:nvSpPr>
        <p:spPr>
          <a:xfrm>
            <a:off x="2788920" y="2606040"/>
            <a:ext cx="2331720" cy="1600200"/>
          </a:xfrm>
          <a:prstGeom prst="rect">
            <a:avLst/>
          </a:prstGeom>
          <a:solidFill>
            <a:srgbClr val="FFFFFF"/>
          </a:solidFill>
          <a:ln w="12700">
            <a:solidFill>
              <a:srgbClr val="BFE3EE"/>
            </a:solidFill>
            <a:prstDash val="solid"/>
          </a:ln>
        </p:spPr>
      </p:sp>
      <p:sp>
        <p:nvSpPr>
          <p:cNvPr id="17" name="Shape 14"/>
          <p:cNvSpPr/>
          <p:nvPr/>
        </p:nvSpPr>
        <p:spPr>
          <a:xfrm>
            <a:off x="2788920" y="2606040"/>
            <a:ext cx="2331720" cy="274320"/>
          </a:xfrm>
          <a:prstGeom prst="rect">
            <a:avLst/>
          </a:prstGeom>
          <a:solidFill>
            <a:srgbClr val="5B6B82"/>
          </a:solidFill>
          <a:ln w="12700">
            <a:solidFill>
              <a:srgbClr val="5B6B82"/>
            </a:solidFill>
            <a:prstDash val="solid"/>
          </a:ln>
        </p:spPr>
      </p:sp>
      <p:sp>
        <p:nvSpPr>
          <p:cNvPr id="18" name="Text 15"/>
          <p:cNvSpPr txBox="1"/>
          <p:nvPr/>
        </p:nvSpPr>
        <p:spPr>
          <a:xfrm>
            <a:off x="2834640" y="2606040"/>
            <a:ext cx="22402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Conversation Management</a:t>
            </a:r>
            <a:endParaRPr lang="en-US" sz="1100" dirty="0"/>
          </a:p>
        </p:txBody>
      </p:sp>
      <p:sp>
        <p:nvSpPr>
          <p:cNvPr id="19" name="Text 16"/>
          <p:cNvSpPr txBox="1"/>
          <p:nvPr/>
        </p:nvSpPr>
        <p:spPr>
          <a:xfrm>
            <a:off x="2834640" y="2926080"/>
            <a:ext cx="2240280" cy="123444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Relevant conversation info stored</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Admin reviews conversations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Intent and training-phrase management where implemented</a:t>
            </a:r>
            <a:endParaRPr lang="en-US" sz="850" dirty="0"/>
          </a:p>
        </p:txBody>
      </p:sp>
      <p:sp>
        <p:nvSpPr>
          <p:cNvPr id="20" name="Shape 17"/>
          <p:cNvSpPr/>
          <p:nvPr/>
        </p:nvSpPr>
        <p:spPr>
          <a:xfrm>
            <a:off x="365760" y="4297680"/>
            <a:ext cx="4754880" cy="457200"/>
          </a:xfrm>
          <a:prstGeom prst="rect">
            <a:avLst/>
          </a:prstGeom>
          <a:solidFill>
            <a:srgbClr val="FFF4DD"/>
          </a:solidFill>
          <a:ln w="12700">
            <a:solidFill>
              <a:srgbClr val="F5A623"/>
            </a:solidFill>
            <a:prstDash val="solid"/>
          </a:ln>
        </p:spPr>
      </p:sp>
      <p:sp>
        <p:nvSpPr>
          <p:cNvPr id="21" name="Text 18"/>
          <p:cNvSpPr txBox="1"/>
          <p:nvPr/>
        </p:nvSpPr>
        <p:spPr>
          <a:xfrm>
            <a:off x="411480" y="4297680"/>
            <a:ext cx="4663440" cy="457200"/>
          </a:xfrm>
          <a:prstGeom prst="rect">
            <a:avLst/>
          </a:prstGeom>
          <a:noFill/>
          <a:ln/>
        </p:spPr>
        <p:txBody>
          <a:bodyPr wrap="square" lIns="635" tIns="635" rIns="635" bIns="635" rtlCol="0" anchor="ctr"/>
          <a:lstStyle/>
          <a:p>
            <a:pPr indent="0" marL="0">
              <a:buNone/>
            </a:pPr>
            <a:r>
              <a:rPr lang="en-US" sz="900" b="1" dirty="0">
                <a:solidFill>
                  <a:srgbClr val="1F2A3C"/>
                </a:solidFill>
                <a:latin typeface="Calibri" pitchFamily="34" charset="0"/>
                <a:ea typeface="Calibri" pitchFamily="34" charset="-122"/>
                <a:cs typeface="Calibri" pitchFamily="34" charset="-120"/>
              </a:rPr>
              <a:t>Response handling: </a:t>
            </a:r>
            <a:pPr indent="0" marL="0">
              <a:buNone/>
            </a:pPr>
            <a:r>
              <a:rPr lang="en-US" sz="900" dirty="0">
                <a:solidFill>
                  <a:srgbClr val="1F2A3C"/>
                </a:solidFill>
                <a:latin typeface="Calibri" pitchFamily="34" charset="0"/>
                <a:ea typeface="Calibri" pitchFamily="34" charset="-122"/>
                <a:cs typeface="Calibri" pitchFamily="34" charset="-120"/>
              </a:rPr>
              <a:t>responses for supported queries; fallback or human escalation for uncertain or complex messages.</a:t>
            </a:r>
            <a:endParaRPr lang="en-US" sz="900" dirty="0"/>
          </a:p>
        </p:txBody>
      </p:sp>
      <p:sp>
        <p:nvSpPr>
          <p:cNvPr id="22" name="Shape 19"/>
          <p:cNvSpPr/>
          <p:nvPr/>
        </p:nvSpPr>
        <p:spPr>
          <a:xfrm>
            <a:off x="5303520" y="914400"/>
            <a:ext cx="3474720" cy="3840480"/>
          </a:xfrm>
          <a:prstGeom prst="roundRect">
            <a:avLst>
              <a:gd name="adj" fmla="val 2632"/>
            </a:avLst>
          </a:prstGeom>
          <a:solidFill>
            <a:srgbClr val="FFFFFF"/>
          </a:solidFill>
          <a:ln w="19050">
            <a:solidFill>
              <a:srgbClr val="00A5C7"/>
            </a:solidFill>
            <a:prstDash val="solid"/>
          </a:ln>
        </p:spPr>
      </p:sp>
      <p:sp>
        <p:nvSpPr>
          <p:cNvPr id="23" name="Shape 20"/>
          <p:cNvSpPr/>
          <p:nvPr/>
        </p:nvSpPr>
        <p:spPr>
          <a:xfrm>
            <a:off x="5303520" y="914400"/>
            <a:ext cx="3474720" cy="347472"/>
          </a:xfrm>
          <a:prstGeom prst="rect">
            <a:avLst/>
          </a:prstGeom>
          <a:solidFill>
            <a:srgbClr val="12305C"/>
          </a:solidFill>
          <a:ln w="12700">
            <a:solidFill>
              <a:srgbClr val="12305C"/>
            </a:solidFill>
            <a:prstDash val="solid"/>
          </a:ln>
        </p:spPr>
      </p:sp>
      <p:sp>
        <p:nvSpPr>
          <p:cNvPr id="24" name="Text 21"/>
          <p:cNvSpPr txBox="1"/>
          <p:nvPr/>
        </p:nvSpPr>
        <p:spPr>
          <a:xfrm>
            <a:off x="5394960" y="914400"/>
            <a:ext cx="3108960" cy="347472"/>
          </a:xfrm>
          <a:prstGeom prst="rect">
            <a:avLst/>
          </a:prstGeom>
          <a:noFill/>
          <a:ln/>
        </p:spPr>
        <p:txBody>
          <a:bodyPr wrap="square" lIns="635" tIns="635" rIns="635" bIns="635"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Illustrative sample conversation</a:t>
            </a:r>
            <a:endParaRPr lang="en-US" sz="1000" dirty="0"/>
          </a:p>
        </p:txBody>
      </p:sp>
      <p:pic>
        <p:nvPicPr>
          <p:cNvPr id="25" name="Image 0" descr="preencoded.png">    </p:cNvPr>
          <p:cNvPicPr>
            <a:picLocks noChangeAspect="1"/>
          </p:cNvPicPr>
          <p:nvPr/>
        </p:nvPicPr>
        <p:blipFill>
          <a:blip r:embed="rId1"/>
          <a:stretch>
            <a:fillRect/>
          </a:stretch>
        </p:blipFill>
        <p:spPr>
          <a:xfrm>
            <a:off x="8412480" y="978408"/>
            <a:ext cx="228600" cy="228600"/>
          </a:xfrm>
          <a:prstGeom prst="rect">
            <a:avLst/>
          </a:prstGeom>
        </p:spPr>
      </p:pic>
      <p:sp>
        <p:nvSpPr>
          <p:cNvPr id="26" name="Text 22"/>
          <p:cNvSpPr txBox="1"/>
          <p:nvPr/>
        </p:nvSpPr>
        <p:spPr>
          <a:xfrm>
            <a:off x="6858000" y="1371600"/>
            <a:ext cx="1828800" cy="320040"/>
          </a:xfrm>
          <a:prstGeom prst="roundRect">
            <a:avLst>
              <a:gd name="adj" fmla="val 22857"/>
            </a:avLst>
          </a:prstGeom>
          <a:solidFill>
            <a:srgbClr val="EAF6FB"/>
          </a:solidFill>
          <a:ln w="12700">
            <a:solidFill>
              <a:srgbClr val="BFE3EE"/>
            </a:solidFill>
          </a:ln>
        </p:spPr>
        <p:txBody>
          <a:bodyPr wrap="square" lIns="508" tIns="508" rIns="508" bIns="508"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Hello!</a:t>
            </a:r>
            <a:endParaRPr lang="en-US" sz="900" dirty="0"/>
          </a:p>
        </p:txBody>
      </p:sp>
      <p:sp>
        <p:nvSpPr>
          <p:cNvPr id="27" name="Text 23"/>
          <p:cNvSpPr txBox="1"/>
          <p:nvPr/>
        </p:nvSpPr>
        <p:spPr>
          <a:xfrm>
            <a:off x="5394960" y="1783080"/>
            <a:ext cx="2286000" cy="457200"/>
          </a:xfrm>
          <a:prstGeom prst="roundRect">
            <a:avLst>
              <a:gd name="adj" fmla="val 16000"/>
            </a:avLst>
          </a:prstGeom>
          <a:solidFill>
            <a:srgbClr val="00A5C7"/>
          </a:solidFill>
          <a:ln w="12700">
            <a:solidFill>
              <a:srgbClr val="00A5C7"/>
            </a:solidFill>
          </a:ln>
        </p:spPr>
        <p:txBody>
          <a:bodyPr wrap="square" lIns="508" tIns="508" rIns="508" bIns="508"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Hello! How can I help you today?</a:t>
            </a:r>
            <a:endParaRPr lang="en-US" sz="900" dirty="0"/>
          </a:p>
        </p:txBody>
      </p:sp>
      <p:sp>
        <p:nvSpPr>
          <p:cNvPr id="28" name="Text 24"/>
          <p:cNvSpPr txBox="1"/>
          <p:nvPr/>
        </p:nvSpPr>
        <p:spPr>
          <a:xfrm>
            <a:off x="6858000" y="2377440"/>
            <a:ext cx="1828800" cy="320040"/>
          </a:xfrm>
          <a:prstGeom prst="roundRect">
            <a:avLst>
              <a:gd name="adj" fmla="val 22857"/>
            </a:avLst>
          </a:prstGeom>
          <a:solidFill>
            <a:srgbClr val="EAF6FB"/>
          </a:solidFill>
          <a:ln w="12700">
            <a:solidFill>
              <a:srgbClr val="BFE3EE"/>
            </a:solidFill>
          </a:ln>
        </p:spPr>
        <p:txBody>
          <a:bodyPr wrap="square" lIns="508" tIns="508" rIns="508" bIns="508"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Where is my order?</a:t>
            </a:r>
            <a:endParaRPr lang="en-US" sz="900" dirty="0"/>
          </a:p>
        </p:txBody>
      </p:sp>
      <p:sp>
        <p:nvSpPr>
          <p:cNvPr id="29" name="Text 25"/>
          <p:cNvSpPr txBox="1"/>
          <p:nvPr/>
        </p:nvSpPr>
        <p:spPr>
          <a:xfrm>
            <a:off x="5394960" y="2788920"/>
            <a:ext cx="2286000" cy="731520"/>
          </a:xfrm>
          <a:prstGeom prst="roundRect">
            <a:avLst>
              <a:gd name="adj" fmla="val 10000"/>
            </a:avLst>
          </a:prstGeom>
          <a:solidFill>
            <a:srgbClr val="00A5C7"/>
          </a:solidFill>
          <a:ln w="12700">
            <a:solidFill>
              <a:srgbClr val="00A5C7"/>
            </a:solidFill>
          </a:ln>
        </p:spPr>
        <p:txBody>
          <a:bodyPr wrap="square" lIns="508" tIns="508" rIns="508" bIns="508"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 can help you check your order status. Please provide the required order details if needed.</a:t>
            </a:r>
            <a:endParaRPr lang="en-US" sz="900" dirty="0"/>
          </a:p>
        </p:txBody>
      </p:sp>
      <p:sp>
        <p:nvSpPr>
          <p:cNvPr id="30" name="Text 26"/>
          <p:cNvSpPr txBox="1"/>
          <p:nvPr/>
        </p:nvSpPr>
        <p:spPr>
          <a:xfrm>
            <a:off x="6858000" y="3639312"/>
            <a:ext cx="1828800" cy="457200"/>
          </a:xfrm>
          <a:prstGeom prst="roundRect">
            <a:avLst>
              <a:gd name="adj" fmla="val 16000"/>
            </a:avLst>
          </a:prstGeom>
          <a:solidFill>
            <a:srgbClr val="EAF6FB"/>
          </a:solidFill>
          <a:ln w="12700">
            <a:solidFill>
              <a:srgbClr val="BFE3EE"/>
            </a:solidFill>
          </a:ln>
        </p:spPr>
        <p:txBody>
          <a:bodyPr wrap="square" lIns="508" tIns="508" rIns="508" bIns="508"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I need help with a complicated issue.</a:t>
            </a:r>
            <a:endParaRPr lang="en-US" sz="900" dirty="0"/>
          </a:p>
        </p:txBody>
      </p:sp>
      <p:sp>
        <p:nvSpPr>
          <p:cNvPr id="31" name="Text 27"/>
          <p:cNvSpPr txBox="1"/>
          <p:nvPr/>
        </p:nvSpPr>
        <p:spPr>
          <a:xfrm>
            <a:off x="5394960" y="4160520"/>
            <a:ext cx="2286000" cy="502920"/>
          </a:xfrm>
          <a:prstGeom prst="roundRect">
            <a:avLst>
              <a:gd name="adj" fmla="val 14545"/>
            </a:avLst>
          </a:prstGeom>
          <a:solidFill>
            <a:srgbClr val="F5A623"/>
          </a:solidFill>
          <a:ln w="12700">
            <a:solidFill>
              <a:srgbClr val="F5A623"/>
            </a:solidFill>
          </a:ln>
        </p:spPr>
        <p:txBody>
          <a:bodyPr wrap="square" lIns="508" tIns="508" rIns="508" bIns="508"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This query may require assistance from a human support agent.</a:t>
            </a:r>
            <a:endParaRPr lang="en-US" sz="9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Testing, Analysis, and Results</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5394960" cy="914400"/>
        </p:xfrm>
        <a:graphic>
          <a:graphicData uri="http://schemas.openxmlformats.org/drawingml/2006/table">
            <a:tbl>
              <a:tblPr/>
              <a:tblGrid>
                <a:gridCol w="1280160"/>
                <a:gridCol w="2011680"/>
                <a:gridCol w="2103120"/>
              </a:tblGrid>
              <a:tr h="38404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Test Area</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2305C"/>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Purpose</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2305C"/>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Expected Behaviour</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2305C"/>
                    </a:solidFill>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Input Validation</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Check empty or invalid messages</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Empty input is rejected with a prompt for valid input</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Text Preprocessing</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Verify messages are prepared for classification</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Text is cleaned and normalized for the model</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Intent Classification</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Test supported messages against intended categories</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Supported messages map to the intended intent</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Response Generation</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Check responses for recognized intents</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A suitable response is selected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Fallback Handling</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Verify uncertain or unsupported queries</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Fallback process is triggered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Human Escalation</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Check complex queries, where implemented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Query is routed for human assistance</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Conversation Storage</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Verify records can be stored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Relevant conversation details are saved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r h="384048">
                <a:tc>
                  <a:txBody>
                    <a:bodyPr/>
                    <a:lstStyle/>
                    <a:p>
                      <a:pPr indent="0" marL="0">
                        <a:buNone/>
                      </a:pPr>
                      <a:r>
                        <a:rPr lang="en-US" sz="850" b="1" dirty="0">
                          <a:solidFill>
                            <a:srgbClr val="12305C"/>
                          </a:solidFill>
                          <a:latin typeface="Calibri" pitchFamily="34" charset="0"/>
                          <a:ea typeface="Calibri" pitchFamily="34" charset="-122"/>
                          <a:cs typeface="Calibri" pitchFamily="34" charset="-120"/>
                        </a:rPr>
                        <a:t>Interface Testing</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EAF6FB"/>
                    </a:solidFill>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Check message submission and display</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indent="0" marL="0">
                        <a:buNone/>
                      </a:pPr>
                      <a:r>
                        <a:rPr lang="en-US" sz="850" dirty="0">
                          <a:solidFill>
                            <a:srgbClr val="1F2A3C"/>
                          </a:solidFill>
                          <a:latin typeface="Calibri" pitchFamily="34" charset="0"/>
                          <a:ea typeface="Calibri" pitchFamily="34" charset="-122"/>
                          <a:cs typeface="Calibri" pitchFamily="34" charset="-120"/>
                        </a:rPr>
                        <a:t>Messages are sent and responses displayed</a:t>
                      </a:r>
                      <a:endParaRPr lang="en-US" sz="850" dirty="0">
                        <a:latin typeface="Calibri" charset="0"/>
                        <a:ea typeface="Calibri" charset="0"/>
                        <a:cs typeface="Calibri" charset="0"/>
                      </a:endParaRPr>
                    </a:p>
                  </a:txBody>
                  <a:tcPr marL="91440" marR="91440" marT="45720" marB="45720" anchor="ct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r>
            </a:tbl>
          </a:graphicData>
        </a:graphic>
      </p:graphicFrame>
      <p:sp>
        <p:nvSpPr>
          <p:cNvPr id="5" name="Text 1"/>
          <p:cNvSpPr txBox="1"/>
          <p:nvPr/>
        </p:nvSpPr>
        <p:spPr>
          <a:xfrm>
            <a:off x="365760" y="4434840"/>
            <a:ext cx="5394960" cy="274320"/>
          </a:xfrm>
          <a:prstGeom prst="rect">
            <a:avLst/>
          </a:prstGeom>
          <a:noFill/>
          <a:ln/>
        </p:spPr>
        <p:txBody>
          <a:bodyPr wrap="square" lIns="635" tIns="635" rIns="635" bIns="635" rtlCol="0" anchor="t"/>
          <a:lstStyle/>
          <a:p>
            <a:pPr indent="0" marL="0">
              <a:buNone/>
            </a:pPr>
            <a:r>
              <a:rPr lang="en-US" sz="850" i="1" dirty="0">
                <a:solidFill>
                  <a:srgbClr val="5B6B82"/>
                </a:solidFill>
                <a:latin typeface="Calibri" pitchFamily="34" charset="0"/>
                <a:ea typeface="Calibri" pitchFamily="34" charset="-122"/>
                <a:cs typeface="Calibri" pitchFamily="34" charset="-120"/>
              </a:rPr>
              <a:t>No numerical accuracy, timing or test-count figures are reported.</a:t>
            </a:r>
            <a:endParaRPr lang="en-US" sz="850" dirty="0"/>
          </a:p>
        </p:txBody>
      </p:sp>
      <p:sp>
        <p:nvSpPr>
          <p:cNvPr id="6" name="Shape 2"/>
          <p:cNvSpPr/>
          <p:nvPr/>
        </p:nvSpPr>
        <p:spPr>
          <a:xfrm>
            <a:off x="5943600" y="914400"/>
            <a:ext cx="2834640" cy="2011680"/>
          </a:xfrm>
          <a:prstGeom prst="rect">
            <a:avLst/>
          </a:prstGeom>
          <a:solidFill>
            <a:srgbClr val="FFFFFF"/>
          </a:solidFill>
          <a:ln w="12700">
            <a:solidFill>
              <a:srgbClr val="BFE3EE"/>
            </a:solidFill>
            <a:prstDash val="solid"/>
          </a:ln>
        </p:spPr>
      </p:sp>
      <p:sp>
        <p:nvSpPr>
          <p:cNvPr id="7" name="Shape 3"/>
          <p:cNvSpPr/>
          <p:nvPr/>
        </p:nvSpPr>
        <p:spPr>
          <a:xfrm>
            <a:off x="5943600" y="914400"/>
            <a:ext cx="2834640" cy="274320"/>
          </a:xfrm>
          <a:prstGeom prst="rect">
            <a:avLst/>
          </a:prstGeom>
          <a:solidFill>
            <a:srgbClr val="0E7C86"/>
          </a:solidFill>
          <a:ln w="12700">
            <a:solidFill>
              <a:srgbClr val="0E7C86"/>
            </a:solidFill>
            <a:prstDash val="solid"/>
          </a:ln>
        </p:spPr>
      </p:sp>
      <p:sp>
        <p:nvSpPr>
          <p:cNvPr id="8" name="Text 4"/>
          <p:cNvSpPr txBox="1"/>
          <p:nvPr/>
        </p:nvSpPr>
        <p:spPr>
          <a:xfrm>
            <a:off x="5989320" y="914400"/>
            <a:ext cx="274320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p:txBody>
      </p:sp>
      <p:sp>
        <p:nvSpPr>
          <p:cNvPr id="9" name="Text 5"/>
          <p:cNvSpPr txBox="1"/>
          <p:nvPr/>
        </p:nvSpPr>
        <p:spPr>
          <a:xfrm>
            <a:off x="5989320" y="1234440"/>
            <a:ext cx="2743200" cy="164592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Combines web development with NLP and ML</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Supported queries handled without manual replies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Intent classification guides responses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Fallback gives a route for uncertain queries</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Records support monitoring and improvement</a:t>
            </a:r>
            <a:endParaRPr lang="en-US" sz="850" dirty="0"/>
          </a:p>
        </p:txBody>
      </p:sp>
      <p:sp>
        <p:nvSpPr>
          <p:cNvPr id="10" name="Shape 6"/>
          <p:cNvSpPr/>
          <p:nvPr/>
        </p:nvSpPr>
        <p:spPr>
          <a:xfrm>
            <a:off x="5943600" y="3017520"/>
            <a:ext cx="2834640" cy="1691640"/>
          </a:xfrm>
          <a:prstGeom prst="rect">
            <a:avLst/>
          </a:prstGeom>
          <a:solidFill>
            <a:srgbClr val="FFFFFF"/>
          </a:solidFill>
          <a:ln w="12700">
            <a:solidFill>
              <a:srgbClr val="BFE3EE"/>
            </a:solidFill>
            <a:prstDash val="solid"/>
          </a:ln>
        </p:spPr>
      </p:sp>
      <p:sp>
        <p:nvSpPr>
          <p:cNvPr id="11" name="Shape 7"/>
          <p:cNvSpPr/>
          <p:nvPr/>
        </p:nvSpPr>
        <p:spPr>
          <a:xfrm>
            <a:off x="5943600" y="3017520"/>
            <a:ext cx="2834640" cy="274320"/>
          </a:xfrm>
          <a:prstGeom prst="rect">
            <a:avLst/>
          </a:prstGeom>
          <a:solidFill>
            <a:srgbClr val="12305C"/>
          </a:solidFill>
          <a:ln w="12700">
            <a:solidFill>
              <a:srgbClr val="12305C"/>
            </a:solidFill>
            <a:prstDash val="solid"/>
          </a:ln>
        </p:spPr>
      </p:sp>
      <p:sp>
        <p:nvSpPr>
          <p:cNvPr id="12" name="Text 8"/>
          <p:cNvSpPr txBox="1"/>
          <p:nvPr/>
        </p:nvSpPr>
        <p:spPr>
          <a:xfrm>
            <a:off x="5989320" y="3017520"/>
            <a:ext cx="274320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and Outcome</a:t>
            </a:r>
            <a:endParaRPr lang="en-US" sz="1100" dirty="0"/>
          </a:p>
        </p:txBody>
      </p:sp>
      <p:sp>
        <p:nvSpPr>
          <p:cNvPr id="13" name="Text 9"/>
          <p:cNvSpPr txBox="1"/>
          <p:nvPr/>
        </p:nvSpPr>
        <p:spPr>
          <a:xfrm>
            <a:off x="5989320" y="3337560"/>
            <a:ext cx="2743200" cy="1325880"/>
          </a:xfrm>
          <a:prstGeom prst="rect">
            <a:avLst/>
          </a:prstGeom>
          <a:noFill/>
          <a:ln/>
        </p:spPr>
        <p:txBody>
          <a:bodyPr wrap="square" lIns="635" tIns="635" rIns="635" bIns="635" rtlCol="0" anchor="t"/>
          <a:lstStyle/>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 Chatbot developed as internship project</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 Web interface integrated with backend</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 NLP + ML applied to classification</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 Automated responses and fallback/escalation</a:t>
            </a:r>
            <a:endParaRPr lang="en-US" sz="850" dirty="0"/>
          </a:p>
          <a:p>
            <a:pPr marL="127000" indent="-127000">
              <a:spcAft>
                <a:spcPts val="200"/>
              </a:spcAft>
              <a:buSzPct val="100000"/>
              <a:buChar char="•"/>
            </a:pPr>
            <a:r>
              <a:rPr lang="en-US" sz="850" dirty="0">
                <a:solidFill>
                  <a:srgbClr val="1F2A3C"/>
                </a:solidFill>
                <a:latin typeface="Calibri" pitchFamily="34" charset="0"/>
                <a:ea typeface="Calibri" pitchFamily="34" charset="-122"/>
                <a:cs typeface="Calibri" pitchFamily="34" charset="-120"/>
              </a:rPr>
              <a:t>Potential to reduce repetitive work and improve consistency</a:t>
            </a:r>
            <a:endParaRPr lang="en-US" sz="8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lIns="0" tIns="0" rIns="0" bIns="0" rtlCol="0" anchor="ctr"/>
          <a:lstStyle/>
          <a:p>
            <a:pPr indent="0" marL="0">
              <a:buNone/>
            </a:pPr>
            <a:r>
              <a:rPr lang="en-US" sz="2200" b="1" dirty="0">
                <a:solidFill>
                  <a:srgbClr val="FFFFFF"/>
                </a:solidFill>
              </a:rPr>
              <a:t>Conclusion and Future Enhancements</a:t>
            </a:r>
            <a:endParaRPr lang="en-US" sz="2200" dirty="0"/>
          </a:p>
        </p:txBody>
      </p:sp>
      <p:sp>
        <p:nvSpPr>
          <p:cNvPr id="4" name="Shape 1"/>
          <p:cNvSpPr/>
          <p:nvPr/>
        </p:nvSpPr>
        <p:spPr>
          <a:xfrm>
            <a:off x="365760" y="914400"/>
            <a:ext cx="3931920" cy="3154680"/>
          </a:xfrm>
          <a:prstGeom prst="rect">
            <a:avLst/>
          </a:prstGeom>
          <a:solidFill>
            <a:srgbClr val="FFFFFF"/>
          </a:solidFill>
          <a:ln w="12700">
            <a:solidFill>
              <a:srgbClr val="BFE3EE"/>
            </a:solidFill>
            <a:prstDash val="solid"/>
          </a:ln>
        </p:spPr>
      </p:sp>
      <p:sp>
        <p:nvSpPr>
          <p:cNvPr id="5" name="Shape 2"/>
          <p:cNvSpPr/>
          <p:nvPr/>
        </p:nvSpPr>
        <p:spPr>
          <a:xfrm>
            <a:off x="365760" y="914400"/>
            <a:ext cx="3931920" cy="274320"/>
          </a:xfrm>
          <a:prstGeom prst="rect">
            <a:avLst/>
          </a:prstGeom>
          <a:solidFill>
            <a:srgbClr val="12305C"/>
          </a:solidFill>
          <a:ln w="12700">
            <a:solidFill>
              <a:srgbClr val="12305C"/>
            </a:solidFill>
            <a:prstDash val="solid"/>
          </a:ln>
        </p:spPr>
      </p:sp>
      <p:sp>
        <p:nvSpPr>
          <p:cNvPr id="6" name="Text 3"/>
          <p:cNvSpPr txBox="1"/>
          <p:nvPr/>
        </p:nvSpPr>
        <p:spPr>
          <a:xfrm>
            <a:off x="411480" y="914400"/>
            <a:ext cx="3840480" cy="274320"/>
          </a:xfrm>
          <a:prstGeom prst="rect">
            <a:avLst/>
          </a:prstGeom>
          <a:noFill/>
          <a:ln/>
        </p:spPr>
        <p:txBody>
          <a:bodyPr wrap="square" lIns="635" tIns="635" rIns="635" bIns="635"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Conclusion</a:t>
            </a:r>
            <a:endParaRPr lang="en-US" sz="1100" dirty="0"/>
          </a:p>
        </p:txBody>
      </p:sp>
      <p:sp>
        <p:nvSpPr>
          <p:cNvPr id="7" name="Text 4"/>
          <p:cNvSpPr txBox="1"/>
          <p:nvPr/>
        </p:nvSpPr>
        <p:spPr>
          <a:xfrm>
            <a:off x="411480" y="1234440"/>
            <a:ext cx="3840480" cy="2788920"/>
          </a:xfrm>
          <a:prstGeom prst="rect">
            <a:avLst/>
          </a:prstGeom>
          <a:noFill/>
          <a:ln/>
        </p:spPr>
        <p:txBody>
          <a:bodyPr wrap="square" lIns="635" tIns="635" rIns="635" bIns="635" rtlCol="0" anchor="t"/>
          <a:lstStyle/>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Developed an AI-powered customer support chatbot.</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Combines frontend web technologies with a Python Flask backend.</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NLP preprocesses customer messages.</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TF-IDF and machine learning classify query intent.</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Automated responses for supported queries.</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Fallback and human escalation handle uncertain or complex requests.</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Conversation storage and admin features support management.</a:t>
            </a:r>
            <a:endParaRPr lang="en-US" sz="950" dirty="0"/>
          </a:p>
          <a:p>
            <a:pPr marL="127000" indent="-127000">
              <a:spcAft>
                <a:spcPts val="300"/>
              </a:spcAft>
              <a:buSzPct val="100000"/>
              <a:buChar char="•"/>
            </a:pPr>
            <a:r>
              <a:rPr lang="en-US" sz="950" dirty="0">
                <a:solidFill>
                  <a:srgbClr val="1F2A3C"/>
                </a:solidFill>
                <a:latin typeface="Calibri" pitchFamily="34" charset="0"/>
                <a:ea typeface="Calibri" pitchFamily="34" charset="-122"/>
                <a:cs typeface="Calibri" pitchFamily="34" charset="-120"/>
              </a:rPr>
              <a:t>Shows how AI and web technologies can automate common support tasks.</a:t>
            </a:r>
            <a:endParaRPr lang="en-US" sz="950" dirty="0"/>
          </a:p>
        </p:txBody>
      </p:sp>
      <p:sp>
        <p:nvSpPr>
          <p:cNvPr id="8" name="Text 5"/>
          <p:cNvSpPr txBox="1"/>
          <p:nvPr/>
        </p:nvSpPr>
        <p:spPr>
          <a:xfrm>
            <a:off x="4480560" y="868680"/>
            <a:ext cx="4297680" cy="274320"/>
          </a:xfrm>
          <a:prstGeom prst="rect">
            <a:avLst/>
          </a:prstGeom>
          <a:noFill/>
          <a:ln/>
        </p:spPr>
        <p:txBody>
          <a:bodyPr wrap="square" lIns="635" tIns="635" rIns="635" bIns="635" rtlCol="0" anchor="t"/>
          <a:lstStyle/>
          <a:p>
            <a:pPr indent="0" marL="0">
              <a:buNone/>
            </a:pPr>
            <a:r>
              <a:rPr lang="en-US" sz="1200" b="1" dirty="0">
                <a:solidFill>
                  <a:srgbClr val="12305C"/>
                </a:solidFill>
                <a:latin typeface="Calibri" pitchFamily="34" charset="0"/>
                <a:ea typeface="Calibri" pitchFamily="34" charset="-122"/>
                <a:cs typeface="Calibri" pitchFamily="34" charset="-120"/>
              </a:rPr>
              <a:t>Future Enhancements</a:t>
            </a:r>
            <a:endParaRPr lang="en-US" sz="1200" dirty="0"/>
          </a:p>
        </p:txBody>
      </p:sp>
      <p:sp>
        <p:nvSpPr>
          <p:cNvPr id="9" name="Shape 6"/>
          <p:cNvSpPr/>
          <p:nvPr/>
        </p:nvSpPr>
        <p:spPr>
          <a:xfrm>
            <a:off x="4480560" y="1170432"/>
            <a:ext cx="2103120" cy="521208"/>
          </a:xfrm>
          <a:prstGeom prst="rect">
            <a:avLst/>
          </a:prstGeom>
          <a:solidFill>
            <a:srgbClr val="FFFFFF"/>
          </a:solidFill>
          <a:ln w="12700">
            <a:solidFill>
              <a:srgbClr val="BFE3EE"/>
            </a:solidFill>
            <a:prstDash val="solid"/>
          </a:ln>
        </p:spPr>
      </p:sp>
      <p:sp>
        <p:nvSpPr>
          <p:cNvPr id="10" name="Shape 7"/>
          <p:cNvSpPr/>
          <p:nvPr/>
        </p:nvSpPr>
        <p:spPr>
          <a:xfrm>
            <a:off x="4480560" y="1170432"/>
            <a:ext cx="54864" cy="521208"/>
          </a:xfrm>
          <a:prstGeom prst="rect">
            <a:avLst/>
          </a:prstGeom>
          <a:solidFill>
            <a:srgbClr val="00B8D9"/>
          </a:solidFill>
          <a:ln w="12700">
            <a:solidFill>
              <a:srgbClr val="00B8D9"/>
            </a:solidFill>
            <a:prstDash val="solid"/>
          </a:ln>
        </p:spPr>
      </p:sp>
      <p:sp>
        <p:nvSpPr>
          <p:cNvPr id="11" name="Text 8"/>
          <p:cNvSpPr txBox="1"/>
          <p:nvPr/>
        </p:nvSpPr>
        <p:spPr>
          <a:xfrm>
            <a:off x="4572000" y="1170432"/>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1. Advanced AI Models</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Explore BERT-style transformers</a:t>
            </a:r>
            <a:endParaRPr lang="en-US" sz="1000" dirty="0"/>
          </a:p>
        </p:txBody>
      </p:sp>
      <p:sp>
        <p:nvSpPr>
          <p:cNvPr id="12" name="Shape 9"/>
          <p:cNvSpPr/>
          <p:nvPr/>
        </p:nvSpPr>
        <p:spPr>
          <a:xfrm>
            <a:off x="6675120" y="1170432"/>
            <a:ext cx="2103120" cy="521208"/>
          </a:xfrm>
          <a:prstGeom prst="rect">
            <a:avLst/>
          </a:prstGeom>
          <a:solidFill>
            <a:srgbClr val="FFFFFF"/>
          </a:solidFill>
          <a:ln w="12700">
            <a:solidFill>
              <a:srgbClr val="BFE3EE"/>
            </a:solidFill>
            <a:prstDash val="solid"/>
          </a:ln>
        </p:spPr>
      </p:sp>
      <p:sp>
        <p:nvSpPr>
          <p:cNvPr id="13" name="Shape 10"/>
          <p:cNvSpPr/>
          <p:nvPr/>
        </p:nvSpPr>
        <p:spPr>
          <a:xfrm>
            <a:off x="6675120" y="1170432"/>
            <a:ext cx="54864" cy="521208"/>
          </a:xfrm>
          <a:prstGeom prst="rect">
            <a:avLst/>
          </a:prstGeom>
          <a:solidFill>
            <a:srgbClr val="00B8D9"/>
          </a:solidFill>
          <a:ln w="12700">
            <a:solidFill>
              <a:srgbClr val="00B8D9"/>
            </a:solidFill>
            <a:prstDash val="solid"/>
          </a:ln>
        </p:spPr>
      </p:sp>
      <p:sp>
        <p:nvSpPr>
          <p:cNvPr id="14" name="Text 11"/>
          <p:cNvSpPr txBox="1"/>
          <p:nvPr/>
        </p:nvSpPr>
        <p:spPr>
          <a:xfrm>
            <a:off x="6766560" y="1170432"/>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2. Multilingual Support</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Interact in multiple languages</a:t>
            </a:r>
            <a:endParaRPr lang="en-US" sz="1000" dirty="0"/>
          </a:p>
        </p:txBody>
      </p:sp>
      <p:sp>
        <p:nvSpPr>
          <p:cNvPr id="15" name="Shape 12"/>
          <p:cNvSpPr/>
          <p:nvPr/>
        </p:nvSpPr>
        <p:spPr>
          <a:xfrm>
            <a:off x="4480560" y="1746504"/>
            <a:ext cx="2103120" cy="521208"/>
          </a:xfrm>
          <a:prstGeom prst="rect">
            <a:avLst/>
          </a:prstGeom>
          <a:solidFill>
            <a:srgbClr val="FFFFFF"/>
          </a:solidFill>
          <a:ln w="12700">
            <a:solidFill>
              <a:srgbClr val="BFE3EE"/>
            </a:solidFill>
            <a:prstDash val="solid"/>
          </a:ln>
        </p:spPr>
      </p:sp>
      <p:sp>
        <p:nvSpPr>
          <p:cNvPr id="16" name="Shape 13"/>
          <p:cNvSpPr/>
          <p:nvPr/>
        </p:nvSpPr>
        <p:spPr>
          <a:xfrm>
            <a:off x="4480560" y="1746504"/>
            <a:ext cx="54864" cy="521208"/>
          </a:xfrm>
          <a:prstGeom prst="rect">
            <a:avLst/>
          </a:prstGeom>
          <a:solidFill>
            <a:srgbClr val="00B8D9"/>
          </a:solidFill>
          <a:ln w="12700">
            <a:solidFill>
              <a:srgbClr val="00B8D9"/>
            </a:solidFill>
            <a:prstDash val="solid"/>
          </a:ln>
        </p:spPr>
      </p:sp>
      <p:sp>
        <p:nvSpPr>
          <p:cNvPr id="17" name="Text 14"/>
          <p:cNvSpPr txBox="1"/>
          <p:nvPr/>
        </p:nvSpPr>
        <p:spPr>
          <a:xfrm>
            <a:off x="4572000" y="1746504"/>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3. Sentiment Analysis</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Prioritize or adapt responses</a:t>
            </a:r>
            <a:endParaRPr lang="en-US" sz="1000" dirty="0"/>
          </a:p>
        </p:txBody>
      </p:sp>
      <p:sp>
        <p:nvSpPr>
          <p:cNvPr id="18" name="Shape 15"/>
          <p:cNvSpPr/>
          <p:nvPr/>
        </p:nvSpPr>
        <p:spPr>
          <a:xfrm>
            <a:off x="6675120" y="1746504"/>
            <a:ext cx="2103120" cy="521208"/>
          </a:xfrm>
          <a:prstGeom prst="rect">
            <a:avLst/>
          </a:prstGeom>
          <a:solidFill>
            <a:srgbClr val="FFFFFF"/>
          </a:solidFill>
          <a:ln w="12700">
            <a:solidFill>
              <a:srgbClr val="BFE3EE"/>
            </a:solidFill>
            <a:prstDash val="solid"/>
          </a:ln>
        </p:spPr>
      </p:sp>
      <p:sp>
        <p:nvSpPr>
          <p:cNvPr id="19" name="Shape 16"/>
          <p:cNvSpPr/>
          <p:nvPr/>
        </p:nvSpPr>
        <p:spPr>
          <a:xfrm>
            <a:off x="6675120" y="1746504"/>
            <a:ext cx="54864" cy="521208"/>
          </a:xfrm>
          <a:prstGeom prst="rect">
            <a:avLst/>
          </a:prstGeom>
          <a:solidFill>
            <a:srgbClr val="00B8D9"/>
          </a:solidFill>
          <a:ln w="12700">
            <a:solidFill>
              <a:srgbClr val="00B8D9"/>
            </a:solidFill>
            <a:prstDash val="solid"/>
          </a:ln>
        </p:spPr>
      </p:sp>
      <p:sp>
        <p:nvSpPr>
          <p:cNvPr id="20" name="Text 17"/>
          <p:cNvSpPr txBox="1"/>
          <p:nvPr/>
        </p:nvSpPr>
        <p:spPr>
          <a:xfrm>
            <a:off x="6766560" y="1746504"/>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4. Voice Interaction</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Speak queries to the bot</a:t>
            </a:r>
            <a:endParaRPr lang="en-US" sz="1000" dirty="0"/>
          </a:p>
        </p:txBody>
      </p:sp>
      <p:sp>
        <p:nvSpPr>
          <p:cNvPr id="21" name="Shape 18"/>
          <p:cNvSpPr/>
          <p:nvPr/>
        </p:nvSpPr>
        <p:spPr>
          <a:xfrm>
            <a:off x="4480560" y="2322576"/>
            <a:ext cx="2103120" cy="521208"/>
          </a:xfrm>
          <a:prstGeom prst="rect">
            <a:avLst/>
          </a:prstGeom>
          <a:solidFill>
            <a:srgbClr val="FFFFFF"/>
          </a:solidFill>
          <a:ln w="12700">
            <a:solidFill>
              <a:srgbClr val="BFE3EE"/>
            </a:solidFill>
            <a:prstDash val="solid"/>
          </a:ln>
        </p:spPr>
      </p:sp>
      <p:sp>
        <p:nvSpPr>
          <p:cNvPr id="22" name="Shape 19"/>
          <p:cNvSpPr/>
          <p:nvPr/>
        </p:nvSpPr>
        <p:spPr>
          <a:xfrm>
            <a:off x="4480560" y="2322576"/>
            <a:ext cx="54864" cy="521208"/>
          </a:xfrm>
          <a:prstGeom prst="rect">
            <a:avLst/>
          </a:prstGeom>
          <a:solidFill>
            <a:srgbClr val="00B8D9"/>
          </a:solidFill>
          <a:ln w="12700">
            <a:solidFill>
              <a:srgbClr val="00B8D9"/>
            </a:solidFill>
            <a:prstDash val="solid"/>
          </a:ln>
        </p:spPr>
      </p:sp>
      <p:sp>
        <p:nvSpPr>
          <p:cNvPr id="23" name="Text 20"/>
          <p:cNvSpPr txBox="1"/>
          <p:nvPr/>
        </p:nvSpPr>
        <p:spPr>
          <a:xfrm>
            <a:off x="4572000" y="2322576"/>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5. Messaging Integrations</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Connect to messaging platforms</a:t>
            </a:r>
            <a:endParaRPr lang="en-US" sz="1000" dirty="0"/>
          </a:p>
        </p:txBody>
      </p:sp>
      <p:sp>
        <p:nvSpPr>
          <p:cNvPr id="24" name="Shape 21"/>
          <p:cNvSpPr/>
          <p:nvPr/>
        </p:nvSpPr>
        <p:spPr>
          <a:xfrm>
            <a:off x="6675120" y="2322576"/>
            <a:ext cx="2103120" cy="521208"/>
          </a:xfrm>
          <a:prstGeom prst="rect">
            <a:avLst/>
          </a:prstGeom>
          <a:solidFill>
            <a:srgbClr val="FFFFFF"/>
          </a:solidFill>
          <a:ln w="12700">
            <a:solidFill>
              <a:srgbClr val="BFE3EE"/>
            </a:solidFill>
            <a:prstDash val="solid"/>
          </a:ln>
        </p:spPr>
      </p:sp>
      <p:sp>
        <p:nvSpPr>
          <p:cNvPr id="25" name="Shape 22"/>
          <p:cNvSpPr/>
          <p:nvPr/>
        </p:nvSpPr>
        <p:spPr>
          <a:xfrm>
            <a:off x="6675120" y="2322576"/>
            <a:ext cx="54864" cy="521208"/>
          </a:xfrm>
          <a:prstGeom prst="rect">
            <a:avLst/>
          </a:prstGeom>
          <a:solidFill>
            <a:srgbClr val="00B8D9"/>
          </a:solidFill>
          <a:ln w="12700">
            <a:solidFill>
              <a:srgbClr val="00B8D9"/>
            </a:solidFill>
            <a:prstDash val="solid"/>
          </a:ln>
        </p:spPr>
      </p:sp>
      <p:sp>
        <p:nvSpPr>
          <p:cNvPr id="26" name="Text 23"/>
          <p:cNvSpPr txBox="1"/>
          <p:nvPr/>
        </p:nvSpPr>
        <p:spPr>
          <a:xfrm>
            <a:off x="6766560" y="2322576"/>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6. Cloud Deployment</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Wider access, scalability</a:t>
            </a:r>
            <a:endParaRPr lang="en-US" sz="1000" dirty="0"/>
          </a:p>
        </p:txBody>
      </p:sp>
      <p:sp>
        <p:nvSpPr>
          <p:cNvPr id="27" name="Shape 24"/>
          <p:cNvSpPr/>
          <p:nvPr/>
        </p:nvSpPr>
        <p:spPr>
          <a:xfrm>
            <a:off x="4480560" y="2898648"/>
            <a:ext cx="2103120" cy="521208"/>
          </a:xfrm>
          <a:prstGeom prst="rect">
            <a:avLst/>
          </a:prstGeom>
          <a:solidFill>
            <a:srgbClr val="FFFFFF"/>
          </a:solidFill>
          <a:ln w="12700">
            <a:solidFill>
              <a:srgbClr val="BFE3EE"/>
            </a:solidFill>
            <a:prstDash val="solid"/>
          </a:ln>
        </p:spPr>
      </p:sp>
      <p:sp>
        <p:nvSpPr>
          <p:cNvPr id="28" name="Shape 25"/>
          <p:cNvSpPr/>
          <p:nvPr/>
        </p:nvSpPr>
        <p:spPr>
          <a:xfrm>
            <a:off x="4480560" y="2898648"/>
            <a:ext cx="54864" cy="521208"/>
          </a:xfrm>
          <a:prstGeom prst="rect">
            <a:avLst/>
          </a:prstGeom>
          <a:solidFill>
            <a:srgbClr val="00B8D9"/>
          </a:solidFill>
          <a:ln w="12700">
            <a:solidFill>
              <a:srgbClr val="00B8D9"/>
            </a:solidFill>
            <a:prstDash val="solid"/>
          </a:ln>
        </p:spPr>
      </p:sp>
      <p:sp>
        <p:nvSpPr>
          <p:cNvPr id="29" name="Text 26"/>
          <p:cNvSpPr txBox="1"/>
          <p:nvPr/>
        </p:nvSpPr>
        <p:spPr>
          <a:xfrm>
            <a:off x="4572000" y="2898648"/>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7. Advanced Analytics</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Dashboards and reports</a:t>
            </a:r>
            <a:endParaRPr lang="en-US" sz="1000" dirty="0"/>
          </a:p>
        </p:txBody>
      </p:sp>
      <p:sp>
        <p:nvSpPr>
          <p:cNvPr id="30" name="Shape 27"/>
          <p:cNvSpPr/>
          <p:nvPr/>
        </p:nvSpPr>
        <p:spPr>
          <a:xfrm>
            <a:off x="6675120" y="2898648"/>
            <a:ext cx="2103120" cy="521208"/>
          </a:xfrm>
          <a:prstGeom prst="rect">
            <a:avLst/>
          </a:prstGeom>
          <a:solidFill>
            <a:srgbClr val="FFFFFF"/>
          </a:solidFill>
          <a:ln w="12700">
            <a:solidFill>
              <a:srgbClr val="BFE3EE"/>
            </a:solidFill>
            <a:prstDash val="solid"/>
          </a:ln>
        </p:spPr>
      </p:sp>
      <p:sp>
        <p:nvSpPr>
          <p:cNvPr id="31" name="Shape 28"/>
          <p:cNvSpPr/>
          <p:nvPr/>
        </p:nvSpPr>
        <p:spPr>
          <a:xfrm>
            <a:off x="6675120" y="2898648"/>
            <a:ext cx="54864" cy="521208"/>
          </a:xfrm>
          <a:prstGeom prst="rect">
            <a:avLst/>
          </a:prstGeom>
          <a:solidFill>
            <a:srgbClr val="00B8D9"/>
          </a:solidFill>
          <a:ln w="12700">
            <a:solidFill>
              <a:srgbClr val="00B8D9"/>
            </a:solidFill>
            <a:prstDash val="solid"/>
          </a:ln>
        </p:spPr>
      </p:sp>
      <p:sp>
        <p:nvSpPr>
          <p:cNvPr id="32" name="Text 29"/>
          <p:cNvSpPr txBox="1"/>
          <p:nvPr/>
        </p:nvSpPr>
        <p:spPr>
          <a:xfrm>
            <a:off x="6766560" y="2898648"/>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8. Multi-Turn Conversations</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Remember context</a:t>
            </a:r>
            <a:endParaRPr lang="en-US" sz="1000" dirty="0"/>
          </a:p>
        </p:txBody>
      </p:sp>
      <p:sp>
        <p:nvSpPr>
          <p:cNvPr id="33" name="Shape 30"/>
          <p:cNvSpPr/>
          <p:nvPr/>
        </p:nvSpPr>
        <p:spPr>
          <a:xfrm>
            <a:off x="4480560" y="3474720"/>
            <a:ext cx="2103120" cy="521208"/>
          </a:xfrm>
          <a:prstGeom prst="rect">
            <a:avLst/>
          </a:prstGeom>
          <a:solidFill>
            <a:srgbClr val="FFFFFF"/>
          </a:solidFill>
          <a:ln w="12700">
            <a:solidFill>
              <a:srgbClr val="BFE3EE"/>
            </a:solidFill>
            <a:prstDash val="solid"/>
          </a:ln>
        </p:spPr>
      </p:sp>
      <p:sp>
        <p:nvSpPr>
          <p:cNvPr id="34" name="Shape 31"/>
          <p:cNvSpPr/>
          <p:nvPr/>
        </p:nvSpPr>
        <p:spPr>
          <a:xfrm>
            <a:off x="4480560" y="3474720"/>
            <a:ext cx="54864" cy="521208"/>
          </a:xfrm>
          <a:prstGeom prst="rect">
            <a:avLst/>
          </a:prstGeom>
          <a:solidFill>
            <a:srgbClr val="00B8D9"/>
          </a:solidFill>
          <a:ln w="12700">
            <a:solidFill>
              <a:srgbClr val="00B8D9"/>
            </a:solidFill>
            <a:prstDash val="solid"/>
          </a:ln>
        </p:spPr>
      </p:sp>
      <p:sp>
        <p:nvSpPr>
          <p:cNvPr id="35" name="Text 32"/>
          <p:cNvSpPr txBox="1"/>
          <p:nvPr/>
        </p:nvSpPr>
        <p:spPr>
          <a:xfrm>
            <a:off x="4572000" y="3474720"/>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9. Authentication &amp; Security</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Authorization and safeguards</a:t>
            </a:r>
            <a:endParaRPr lang="en-US" sz="1000" dirty="0"/>
          </a:p>
        </p:txBody>
      </p:sp>
      <p:sp>
        <p:nvSpPr>
          <p:cNvPr id="36" name="Shape 33"/>
          <p:cNvSpPr/>
          <p:nvPr/>
        </p:nvSpPr>
        <p:spPr>
          <a:xfrm>
            <a:off x="6675120" y="3474720"/>
            <a:ext cx="2103120" cy="521208"/>
          </a:xfrm>
          <a:prstGeom prst="rect">
            <a:avLst/>
          </a:prstGeom>
          <a:solidFill>
            <a:srgbClr val="FFFFFF"/>
          </a:solidFill>
          <a:ln w="12700">
            <a:solidFill>
              <a:srgbClr val="BFE3EE"/>
            </a:solidFill>
            <a:prstDash val="solid"/>
          </a:ln>
        </p:spPr>
      </p:sp>
      <p:sp>
        <p:nvSpPr>
          <p:cNvPr id="37" name="Shape 34"/>
          <p:cNvSpPr/>
          <p:nvPr/>
        </p:nvSpPr>
        <p:spPr>
          <a:xfrm>
            <a:off x="6675120" y="3474720"/>
            <a:ext cx="54864" cy="521208"/>
          </a:xfrm>
          <a:prstGeom prst="rect">
            <a:avLst/>
          </a:prstGeom>
          <a:solidFill>
            <a:srgbClr val="00B8D9"/>
          </a:solidFill>
          <a:ln w="12700">
            <a:solidFill>
              <a:srgbClr val="00B8D9"/>
            </a:solidFill>
            <a:prstDash val="solid"/>
          </a:ln>
        </p:spPr>
      </p:sp>
      <p:sp>
        <p:nvSpPr>
          <p:cNvPr id="38" name="Text 35"/>
          <p:cNvSpPr txBox="1"/>
          <p:nvPr/>
        </p:nvSpPr>
        <p:spPr>
          <a:xfrm>
            <a:off x="6766560" y="3474720"/>
            <a:ext cx="2011680" cy="521208"/>
          </a:xfrm>
          <a:prstGeom prst="rect">
            <a:avLst/>
          </a:prstGeom>
          <a:noFill/>
          <a:ln/>
        </p:spPr>
        <p:txBody>
          <a:bodyPr wrap="square" lIns="254" tIns="254" rIns="254" bIns="254" rtlCol="0" anchor="ctr"/>
          <a:lstStyle/>
          <a:p>
            <a:pPr indent="0" marL="0">
              <a:buNone/>
            </a:pPr>
            <a:r>
              <a:rPr lang="en-US" sz="900" b="1" dirty="0">
                <a:solidFill>
                  <a:srgbClr val="12305C"/>
                </a:solidFill>
                <a:latin typeface="Calibri" pitchFamily="34" charset="0"/>
                <a:ea typeface="Calibri" pitchFamily="34" charset="-122"/>
                <a:cs typeface="Calibri" pitchFamily="34" charset="-120"/>
              </a:rPr>
              <a:t>10. Production Database</a:t>
            </a:r>
            <a:endParaRPr lang="en-US" sz="1000" dirty="0"/>
          </a:p>
          <a:p>
            <a:pPr indent="0" marL="0">
              <a:buNone/>
            </a:pPr>
            <a:r>
              <a:rPr lang="en-US" sz="800" dirty="0">
                <a:solidFill>
                  <a:srgbClr val="1F2A3C"/>
                </a:solidFill>
                <a:latin typeface="Calibri" pitchFamily="34" charset="0"/>
                <a:ea typeface="Calibri" pitchFamily="34" charset="-122"/>
                <a:cs typeface="Calibri" pitchFamily="34" charset="-120"/>
              </a:rPr>
              <a:t>Stronger production support</a:t>
            </a:r>
            <a:endParaRPr lang="en-US" sz="1000" dirty="0"/>
          </a:p>
        </p:txBody>
      </p:sp>
      <p:sp>
        <p:nvSpPr>
          <p:cNvPr id="39" name="Shape 36"/>
          <p:cNvSpPr/>
          <p:nvPr/>
        </p:nvSpPr>
        <p:spPr>
          <a:xfrm>
            <a:off x="365760" y="4206240"/>
            <a:ext cx="8412480" cy="566928"/>
          </a:xfrm>
          <a:prstGeom prst="roundRect">
            <a:avLst>
              <a:gd name="adj" fmla="val 12903"/>
            </a:avLst>
          </a:prstGeom>
          <a:solidFill>
            <a:srgbClr val="0B1F3A"/>
          </a:solidFill>
          <a:ln w="19050">
            <a:solidFill>
              <a:srgbClr val="00B8D9"/>
            </a:solidFill>
            <a:prstDash val="solid"/>
          </a:ln>
        </p:spPr>
      </p:sp>
      <p:pic>
        <p:nvPicPr>
          <p:cNvPr id="40" name="Image 0" descr="preencoded.png">    </p:cNvPr>
          <p:cNvPicPr>
            <a:picLocks noChangeAspect="1"/>
          </p:cNvPicPr>
          <p:nvPr/>
        </p:nvPicPr>
        <p:blipFill>
          <a:blip r:embed="rId1"/>
          <a:stretch>
            <a:fillRect/>
          </a:stretch>
        </p:blipFill>
        <p:spPr>
          <a:xfrm>
            <a:off x="548640" y="4297680"/>
            <a:ext cx="384048" cy="384048"/>
          </a:xfrm>
          <a:prstGeom prst="rect">
            <a:avLst/>
          </a:prstGeom>
        </p:spPr>
      </p:pic>
      <p:sp>
        <p:nvSpPr>
          <p:cNvPr id="41" name="Text 37"/>
          <p:cNvSpPr txBox="1"/>
          <p:nvPr/>
        </p:nvSpPr>
        <p:spPr>
          <a:xfrm>
            <a:off x="1097280" y="4206240"/>
            <a:ext cx="7498080" cy="566928"/>
          </a:xfrm>
          <a:prstGeom prst="rect">
            <a:avLst/>
          </a:prstGeom>
          <a:noFill/>
          <a:ln/>
        </p:spPr>
        <p:txBody>
          <a:bodyPr wrap="square" lIns="635" tIns="635" rIns="635" bIns="635" rtlCol="0" anchor="ctr"/>
          <a:lstStyle/>
          <a:p>
            <a:pPr indent="0" marL="0">
              <a:buNone/>
            </a:pPr>
            <a:r>
              <a:rPr lang="en-US" sz="1800" b="1" dirty="0">
                <a:solidFill>
                  <a:srgbClr val="00B8D9"/>
                </a:solidFill>
                <a:latin typeface="Calibri" pitchFamily="34" charset="0"/>
                <a:ea typeface="Calibri" pitchFamily="34" charset="-122"/>
                <a:cs typeface="Calibri" pitchFamily="34" charset="-120"/>
              </a:rPr>
              <a:t>THANK YOU</a:t>
            </a:r>
            <a:pPr indent="0" marL="0">
              <a:buNone/>
            </a:pPr>
            <a:r>
              <a:rPr lang="en-US" sz="1400" dirty="0">
                <a:solidFill>
                  <a:srgbClr val="FFFFFF"/>
                </a:solidFill>
                <a:latin typeface="Calibri" pitchFamily="34" charset="0"/>
                <a:ea typeface="Calibri" pitchFamily="34" charset="-122"/>
                <a:cs typeface="Calibri" pitchFamily="34" charset="-120"/>
              </a:rPr>
              <a:t>   –   Questions and Answers</a:t>
            </a:r>
            <a:endParaRPr lang="en-US" sz="10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B82"/>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ech Navy Cyan">
  <a:themeElements>
    <a:clrScheme name="Tech Navy Cyan">
      <a:dk1>
        <a:srgbClr val="0B1F3A"/>
      </a:dk1>
      <a:lt1>
        <a:srgbClr val="FFFFFF"/>
      </a:lt1>
      <a:dk2>
        <a:srgbClr val="12305C"/>
      </a:dk2>
      <a:lt2>
        <a:srgbClr val="EAF6FB"/>
      </a:lt2>
      <a:accent1>
        <a:srgbClr val="00B8D9"/>
      </a:accent1>
      <a:accent2>
        <a:srgbClr val="12305C"/>
      </a:accent2>
      <a:accent3>
        <a:srgbClr val="0E7C86"/>
      </a:accent3>
      <a:accent4>
        <a:srgbClr val="F5A623"/>
      </a:accent4>
      <a:accent5>
        <a:srgbClr val="5B6B82"/>
      </a:accent5>
      <a:accent6>
        <a:srgbClr val="C0392B"/>
      </a:accent6>
      <a:hlink>
        <a:srgbClr val="00A5C7"/>
      </a:hlink>
      <a:folHlink>
        <a:srgbClr val="5B6B82"/>
      </a:folHlink>
    </a:clrScheme>
    <a:fontScheme name="Tech Navy Cy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Customer Support Chatbot</dc:title>
  <dc:subject>PptxGenJS Presentation</dc:subject>
  <dc:creator>Akshaya S</dc:creator>
  <cp:lastModifiedBy>Akshaya S</cp:lastModifiedBy>
  <cp:revision>1</cp:revision>
  <dcterms:created xsi:type="dcterms:W3CDTF">2026-10-20T16:44:38Z</dcterms:created>
  <dcterms:modified xsi:type="dcterms:W3CDTF">2026-10-20T16:44:38Z</dcterms:modified>
</cp:coreProperties>
</file>